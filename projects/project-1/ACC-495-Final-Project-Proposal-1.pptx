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Old Standard TT"/>
      <p:regular r:id="rId17"/>
      <p:bold r:id="rId18"/>
      <p: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OldStandardTT-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OldStandardTT-italic.fntdata"/><Relationship Id="rId6" Type="http://schemas.openxmlformats.org/officeDocument/2006/relationships/slide" Target="slides/slide1.xml"/><Relationship Id="rId18" Type="http://schemas.openxmlformats.org/officeDocument/2006/relationships/font" Target="fonts/OldStandardTT-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d5dc23ca9b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d5dc23ca9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d5dc23ca9b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d5dc23ca9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d5dc23ca9b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d5dc23ca9b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d5dc23ca9b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d5dc23ca9b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d5dc23ca9b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d5dc23ca9b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d5dc23ca9b_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d5dc23ca9b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d5dc23ca9b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d5dc23ca9b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41058ab16464df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41058ab16464df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d5dc23ca9b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d5dc23ca9b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e7d7f6372588c9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e7d7f6372588c9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7" name="Google Shape;17;p3"/>
          <p:cNvSpPr txBox="1"/>
          <p:nvPr>
            <p:ph type="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42" name="Google Shape;42;p9"/>
          <p:cNvSpPr txBox="1"/>
          <p:nvPr>
            <p:ph type="title"/>
          </p:nvPr>
        </p:nvSpPr>
        <p:spPr>
          <a:xfrm>
            <a:off x="265500" y="1382350"/>
            <a:ext cx="4045200" cy="1333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p:txBody>
      </p:sp>
      <p:sp>
        <p:nvSpPr>
          <p:cNvPr id="43" name="Google Shape;43;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0"/>
              </a:spcBef>
              <a:spcAft>
                <a:spcPts val="0"/>
              </a:spcAft>
              <a:buClr>
                <a:schemeClr val="accent1"/>
              </a:buClr>
              <a:buSzPts val="1400"/>
              <a:buChar char="○"/>
              <a:defRPr>
                <a:solidFill>
                  <a:schemeClr val="accent1"/>
                </a:solidFill>
              </a:defRPr>
            </a:lvl2pPr>
            <a:lvl3pPr indent="-317500" lvl="2" marL="1371600">
              <a:spcBef>
                <a:spcPts val="0"/>
              </a:spcBef>
              <a:spcAft>
                <a:spcPts val="0"/>
              </a:spcAft>
              <a:buClr>
                <a:schemeClr val="accent1"/>
              </a:buClr>
              <a:buSzPts val="1400"/>
              <a:buChar char="■"/>
              <a:defRPr>
                <a:solidFill>
                  <a:schemeClr val="accent1"/>
                </a:solidFill>
              </a:defRPr>
            </a:lvl3pPr>
            <a:lvl4pPr indent="-317500" lvl="3" marL="1828800">
              <a:spcBef>
                <a:spcPts val="0"/>
              </a:spcBef>
              <a:spcAft>
                <a:spcPts val="0"/>
              </a:spcAft>
              <a:buClr>
                <a:schemeClr val="accent1"/>
              </a:buClr>
              <a:buSzPts val="1400"/>
              <a:buChar char="●"/>
              <a:defRPr>
                <a:solidFill>
                  <a:schemeClr val="accent1"/>
                </a:solidFill>
              </a:defRPr>
            </a:lvl4pPr>
            <a:lvl5pPr indent="-317500" lvl="4" marL="2286000">
              <a:spcBef>
                <a:spcPts val="0"/>
              </a:spcBef>
              <a:spcAft>
                <a:spcPts val="0"/>
              </a:spcAft>
              <a:buClr>
                <a:schemeClr val="accent1"/>
              </a:buClr>
              <a:buSzPts val="1400"/>
              <a:buChar char="○"/>
              <a:defRPr>
                <a:solidFill>
                  <a:schemeClr val="accent1"/>
                </a:solidFill>
              </a:defRPr>
            </a:lvl5pPr>
            <a:lvl6pPr indent="-317500" lvl="5" marL="2743200">
              <a:spcBef>
                <a:spcPts val="0"/>
              </a:spcBef>
              <a:spcAft>
                <a:spcPts val="0"/>
              </a:spcAft>
              <a:buClr>
                <a:schemeClr val="accent1"/>
              </a:buClr>
              <a:buSzPts val="1400"/>
              <a:buChar char="■"/>
              <a:defRPr>
                <a:solidFill>
                  <a:schemeClr val="accent1"/>
                </a:solidFill>
              </a:defRPr>
            </a:lvl6pPr>
            <a:lvl7pPr indent="-317500" lvl="6" marL="3200400">
              <a:spcBef>
                <a:spcPts val="0"/>
              </a:spcBef>
              <a:spcAft>
                <a:spcPts val="0"/>
              </a:spcAft>
              <a:buClr>
                <a:schemeClr val="accent1"/>
              </a:buClr>
              <a:buSzPts val="1400"/>
              <a:buChar char="●"/>
              <a:defRPr>
                <a:solidFill>
                  <a:schemeClr val="accent1"/>
                </a:solidFill>
              </a:defRPr>
            </a:lvl7pPr>
            <a:lvl8pPr indent="-317500" lvl="7" marL="3657600">
              <a:spcBef>
                <a:spcPts val="0"/>
              </a:spcBef>
              <a:spcAft>
                <a:spcPts val="0"/>
              </a:spcAft>
              <a:buClr>
                <a:schemeClr val="accent1"/>
              </a:buClr>
              <a:buSzPts val="1400"/>
              <a:buChar char="○"/>
              <a:defRPr>
                <a:solidFill>
                  <a:schemeClr val="accent1"/>
                </a:solidFill>
              </a:defRPr>
            </a:lvl8pPr>
            <a:lvl9pPr indent="-317500" lvl="8" marL="4114800">
              <a:spcBef>
                <a:spcPts val="0"/>
              </a:spcBef>
              <a:spcAft>
                <a:spcPts val="0"/>
              </a:spcAft>
              <a:buClr>
                <a:schemeClr val="accent1"/>
              </a:buClr>
              <a:buSzPts val="1400"/>
              <a:buChar char="■"/>
              <a:defRPr>
                <a:solidFill>
                  <a:schemeClr val="accent1"/>
                </a:solidFill>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chemeClr val="accen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2700" y="1893300"/>
            <a:ext cx="8118600" cy="1522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ACC 495 Final Project Proposal</a:t>
            </a:r>
            <a:endParaRPr/>
          </a:p>
        </p:txBody>
      </p:sp>
      <p:sp>
        <p:nvSpPr>
          <p:cNvPr id="60" name="Google Shape;60;p13"/>
          <p:cNvSpPr txBox="1"/>
          <p:nvPr>
            <p:ph idx="1" type="subTitle"/>
          </p:nvPr>
        </p:nvSpPr>
        <p:spPr>
          <a:xfrm>
            <a:off x="512700" y="3840639"/>
            <a:ext cx="8118600" cy="7875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By Sam Woodward, Patrick Vlahos, Reagan Henkel, Alex Campbell</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Who</a:t>
            </a:r>
            <a:r>
              <a:rPr lang="en"/>
              <a:t>: US Department of Education</a:t>
            </a:r>
            <a:endParaRPr/>
          </a:p>
        </p:txBody>
      </p:sp>
      <p:sp>
        <p:nvSpPr>
          <p:cNvPr id="66" name="Google Shape;66;p14"/>
          <p:cNvSpPr txBox="1"/>
          <p:nvPr>
            <p:ph idx="1" type="body"/>
          </p:nvPr>
        </p:nvSpPr>
        <p:spPr>
          <a:xfrm>
            <a:off x="311700" y="1171675"/>
            <a:ext cx="4872000" cy="33972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
              <a:t>The federal agency that is primarily responsible for overseeing education funding and student aid programs within the United States</a:t>
            </a:r>
            <a:endParaRPr/>
          </a:p>
          <a:p>
            <a:pPr indent="-304800" lvl="1" marL="914400" rtl="0" algn="l">
              <a:spcBef>
                <a:spcPts val="0"/>
              </a:spcBef>
              <a:spcAft>
                <a:spcPts val="0"/>
              </a:spcAft>
              <a:buSzPts val="1200"/>
              <a:buChar char="○"/>
            </a:pPr>
            <a:r>
              <a:rPr lang="en"/>
              <a:t>Manages the federal student loan programs which is directly tied into the roughly $1.7 trillion student debt issue</a:t>
            </a:r>
            <a:endParaRPr/>
          </a:p>
          <a:p>
            <a:pPr indent="-317500" lvl="0" marL="457200" rtl="0" algn="l">
              <a:spcBef>
                <a:spcPts val="0"/>
              </a:spcBef>
              <a:spcAft>
                <a:spcPts val="0"/>
              </a:spcAft>
              <a:buSzPts val="1400"/>
              <a:buChar char="●"/>
            </a:pPr>
            <a:r>
              <a:rPr lang="en"/>
              <a:t>Acts as the main regulator and </a:t>
            </a:r>
            <a:r>
              <a:rPr lang="en"/>
              <a:t>policymakers influencing</a:t>
            </a:r>
            <a:r>
              <a:rPr lang="en"/>
              <a:t> how </a:t>
            </a:r>
            <a:r>
              <a:rPr lang="en"/>
              <a:t>student</a:t>
            </a:r>
            <a:r>
              <a:rPr lang="en"/>
              <a:t> aid is distributed to students</a:t>
            </a:r>
            <a:endParaRPr/>
          </a:p>
          <a:p>
            <a:pPr indent="-304800" lvl="1" marL="914400" rtl="0" algn="l">
              <a:spcBef>
                <a:spcPts val="0"/>
              </a:spcBef>
              <a:spcAft>
                <a:spcPts val="0"/>
              </a:spcAft>
              <a:buSzPts val="1200"/>
              <a:buChar char="○"/>
            </a:pPr>
            <a:r>
              <a:rPr lang="en"/>
              <a:t>Adjusts the rates accordingly for student loans </a:t>
            </a:r>
            <a:endParaRPr/>
          </a:p>
          <a:p>
            <a:pPr indent="-317500" lvl="0" marL="457200" rtl="0" algn="l">
              <a:spcBef>
                <a:spcPts val="0"/>
              </a:spcBef>
              <a:spcAft>
                <a:spcPts val="0"/>
              </a:spcAft>
              <a:buSzPts val="1400"/>
              <a:buChar char="●"/>
            </a:pPr>
            <a:r>
              <a:rPr lang="en"/>
              <a:t>Provides large scale data on tuition, graduation rates, earnings and debt outcomes post-graduate</a:t>
            </a:r>
            <a:endParaRPr/>
          </a:p>
        </p:txBody>
      </p:sp>
      <p:pic>
        <p:nvPicPr>
          <p:cNvPr id="67" name="Google Shape;67;p14"/>
          <p:cNvPicPr preferRelativeResize="0"/>
          <p:nvPr/>
        </p:nvPicPr>
        <p:blipFill>
          <a:blip r:embed="rId3">
            <a:alphaModFix/>
          </a:blip>
          <a:stretch>
            <a:fillRect/>
          </a:stretch>
        </p:blipFill>
        <p:spPr>
          <a:xfrm>
            <a:off x="5593850" y="1058225"/>
            <a:ext cx="3180875" cy="31809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512675" y="346775"/>
            <a:ext cx="3079200" cy="4090800"/>
          </a:xfrm>
          <a:prstGeom prst="rect">
            <a:avLst/>
          </a:prstGeom>
          <a:solidFill>
            <a:schemeClr val="lt1"/>
          </a:solidFill>
        </p:spPr>
        <p:txBody>
          <a:bodyPr anchorCtr="0" anchor="ctr" bIns="91425" lIns="91425" spcFirstLastPara="1" rIns="91425" wrap="square" tIns="91425">
            <a:normAutofit/>
          </a:bodyPr>
          <a:lstStyle/>
          <a:p>
            <a:pPr indent="0" lvl="0" marL="0" rtl="0" algn="l">
              <a:spcBef>
                <a:spcPts val="0"/>
              </a:spcBef>
              <a:spcAft>
                <a:spcPts val="0"/>
              </a:spcAft>
              <a:buNone/>
            </a:pPr>
            <a:r>
              <a:rPr b="1" lang="en" sz="5300"/>
              <a:t>Executive Summary</a:t>
            </a:r>
            <a:endParaRPr b="1" sz="5300"/>
          </a:p>
        </p:txBody>
      </p:sp>
      <p:sp>
        <p:nvSpPr>
          <p:cNvPr id="73" name="Google Shape;73;p15"/>
          <p:cNvSpPr txBox="1"/>
          <p:nvPr>
            <p:ph idx="4294967295" type="body"/>
          </p:nvPr>
        </p:nvSpPr>
        <p:spPr>
          <a:xfrm>
            <a:off x="3983425" y="215675"/>
            <a:ext cx="4848900" cy="4353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accent1"/>
              </a:buClr>
              <a:buSzPts val="1800"/>
              <a:buChar char="●"/>
            </a:pPr>
            <a:r>
              <a:rPr b="1" lang="en">
                <a:solidFill>
                  <a:schemeClr val="accent1"/>
                </a:solidFill>
              </a:rPr>
              <a:t>Problem</a:t>
            </a:r>
            <a:endParaRPr b="1">
              <a:solidFill>
                <a:schemeClr val="accent1"/>
              </a:solidFill>
            </a:endParaRPr>
          </a:p>
          <a:p>
            <a:pPr indent="-317500" lvl="1" marL="914400" rtl="0" algn="l">
              <a:spcBef>
                <a:spcPts val="0"/>
              </a:spcBef>
              <a:spcAft>
                <a:spcPts val="0"/>
              </a:spcAft>
              <a:buClr>
                <a:schemeClr val="accent1"/>
              </a:buClr>
              <a:buSzPts val="1400"/>
              <a:buChar char="○"/>
            </a:pPr>
            <a:r>
              <a:rPr lang="en">
                <a:solidFill>
                  <a:schemeClr val="accent1"/>
                </a:solidFill>
              </a:rPr>
              <a:t>Uncontrolled amounts of debt hurt recent </a:t>
            </a:r>
            <a:r>
              <a:rPr lang="en">
                <a:solidFill>
                  <a:schemeClr val="accent1"/>
                </a:solidFill>
              </a:rPr>
              <a:t>graduates and the federal government when debts can’t be paid off</a:t>
            </a:r>
            <a:endParaRPr>
              <a:solidFill>
                <a:schemeClr val="accent1"/>
              </a:solidFill>
            </a:endParaRPr>
          </a:p>
          <a:p>
            <a:pPr indent="-342900" lvl="0" marL="457200" rtl="0" algn="l">
              <a:spcBef>
                <a:spcPts val="0"/>
              </a:spcBef>
              <a:spcAft>
                <a:spcPts val="0"/>
              </a:spcAft>
              <a:buClr>
                <a:schemeClr val="accent1"/>
              </a:buClr>
              <a:buSzPts val="1800"/>
              <a:buChar char="●"/>
            </a:pPr>
            <a:r>
              <a:rPr b="1" lang="en">
                <a:solidFill>
                  <a:schemeClr val="accent1"/>
                </a:solidFill>
              </a:rPr>
              <a:t>Goals</a:t>
            </a:r>
            <a:endParaRPr b="1">
              <a:solidFill>
                <a:schemeClr val="accent1"/>
              </a:solidFill>
            </a:endParaRPr>
          </a:p>
          <a:p>
            <a:pPr indent="-317500" lvl="1" marL="914400" rtl="0" algn="l">
              <a:spcBef>
                <a:spcPts val="0"/>
              </a:spcBef>
              <a:spcAft>
                <a:spcPts val="0"/>
              </a:spcAft>
              <a:buClr>
                <a:schemeClr val="accent1"/>
              </a:buClr>
              <a:buSzPts val="1400"/>
              <a:buChar char="○"/>
            </a:pPr>
            <a:r>
              <a:rPr lang="en">
                <a:solidFill>
                  <a:schemeClr val="accent1"/>
                </a:solidFill>
              </a:rPr>
              <a:t>Establish </a:t>
            </a:r>
            <a:r>
              <a:rPr lang="en">
                <a:solidFill>
                  <a:schemeClr val="accent1"/>
                </a:solidFill>
              </a:rPr>
              <a:t>reliable ROI estimates based off degree type and debt levels</a:t>
            </a:r>
            <a:endParaRPr>
              <a:solidFill>
                <a:schemeClr val="accent1"/>
              </a:solidFill>
            </a:endParaRPr>
          </a:p>
          <a:p>
            <a:pPr indent="-317500" lvl="1" marL="914400" rtl="0" algn="l">
              <a:spcBef>
                <a:spcPts val="0"/>
              </a:spcBef>
              <a:spcAft>
                <a:spcPts val="0"/>
              </a:spcAft>
              <a:buClr>
                <a:schemeClr val="accent1"/>
              </a:buClr>
              <a:buSzPts val="1400"/>
              <a:buChar char="○"/>
            </a:pPr>
            <a:r>
              <a:rPr lang="en">
                <a:solidFill>
                  <a:schemeClr val="accent1"/>
                </a:solidFill>
              </a:rPr>
              <a:t>Evaluate economic shifts and their effect on the value of higher education </a:t>
            </a:r>
            <a:endParaRPr>
              <a:solidFill>
                <a:schemeClr val="accent1"/>
              </a:solidFill>
            </a:endParaRPr>
          </a:p>
          <a:p>
            <a:pPr indent="-317500" lvl="1" marL="914400" rtl="0" algn="l">
              <a:spcBef>
                <a:spcPts val="0"/>
              </a:spcBef>
              <a:spcAft>
                <a:spcPts val="0"/>
              </a:spcAft>
              <a:buClr>
                <a:schemeClr val="accent1"/>
              </a:buClr>
              <a:buSzPts val="1400"/>
              <a:buChar char="○"/>
            </a:pPr>
            <a:r>
              <a:rPr lang="en">
                <a:solidFill>
                  <a:schemeClr val="accent1"/>
                </a:solidFill>
              </a:rPr>
              <a:t>Develop recommendations for potential students based on analysis</a:t>
            </a:r>
            <a:endParaRPr>
              <a:solidFill>
                <a:schemeClr val="accent1"/>
              </a:solidFill>
            </a:endParaRPr>
          </a:p>
          <a:p>
            <a:pPr indent="-342900" lvl="0" marL="457200" rtl="0" algn="l">
              <a:spcBef>
                <a:spcPts val="0"/>
              </a:spcBef>
              <a:spcAft>
                <a:spcPts val="0"/>
              </a:spcAft>
              <a:buClr>
                <a:schemeClr val="accent1"/>
              </a:buClr>
              <a:buSzPts val="1800"/>
              <a:buChar char="●"/>
            </a:pPr>
            <a:r>
              <a:rPr b="1" lang="en">
                <a:solidFill>
                  <a:schemeClr val="accent1"/>
                </a:solidFill>
              </a:rPr>
              <a:t>Value proposition</a:t>
            </a:r>
            <a:endParaRPr b="1">
              <a:solidFill>
                <a:schemeClr val="accent1"/>
              </a:solidFill>
            </a:endParaRPr>
          </a:p>
          <a:p>
            <a:pPr indent="-317500" lvl="1" marL="914400" rtl="0" algn="l">
              <a:spcBef>
                <a:spcPts val="0"/>
              </a:spcBef>
              <a:spcAft>
                <a:spcPts val="0"/>
              </a:spcAft>
              <a:buClr>
                <a:schemeClr val="accent1"/>
              </a:buClr>
              <a:buSzPts val="1400"/>
              <a:buChar char="○"/>
            </a:pPr>
            <a:r>
              <a:rPr lang="en">
                <a:solidFill>
                  <a:schemeClr val="accent1"/>
                </a:solidFill>
              </a:rPr>
              <a:t>Reduce the amount of debt that the US Department of Education carries</a:t>
            </a:r>
            <a:endParaRPr>
              <a:solidFill>
                <a:schemeClr val="accent1"/>
              </a:solidFill>
            </a:endParaRPr>
          </a:p>
          <a:p>
            <a:pPr indent="-317500" lvl="1" marL="914400" rtl="0" algn="l">
              <a:spcBef>
                <a:spcPts val="0"/>
              </a:spcBef>
              <a:spcAft>
                <a:spcPts val="0"/>
              </a:spcAft>
              <a:buClr>
                <a:schemeClr val="accent1"/>
              </a:buClr>
              <a:buSzPts val="1400"/>
              <a:buChar char="○"/>
            </a:pPr>
            <a:r>
              <a:rPr lang="en">
                <a:solidFill>
                  <a:schemeClr val="accent1"/>
                </a:solidFill>
              </a:rPr>
              <a:t>Improve quality of life for graduates by reducing carried debt</a:t>
            </a:r>
            <a:endParaRPr>
              <a:solidFill>
                <a:schemeClr val="accen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Issue</a:t>
            </a:r>
            <a:endParaRPr/>
          </a:p>
        </p:txBody>
      </p:sp>
      <p:sp>
        <p:nvSpPr>
          <p:cNvPr id="79" name="Google Shape;79;p16"/>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large rise in student loan debt within the United States has raised the debate of whether or not college is worth the price.</a:t>
            </a:r>
            <a:endParaRPr/>
          </a:p>
          <a:p>
            <a:pPr indent="-342900" lvl="0" marL="457200" rtl="0" algn="l">
              <a:spcBef>
                <a:spcPts val="0"/>
              </a:spcBef>
              <a:spcAft>
                <a:spcPts val="0"/>
              </a:spcAft>
              <a:buSzPts val="1800"/>
              <a:buChar char="●"/>
            </a:pPr>
            <a:r>
              <a:rPr lang="en"/>
              <a:t>The variability between degree type, location, and institution make it difficult to determine whether </a:t>
            </a:r>
            <a:r>
              <a:rPr lang="en"/>
              <a:t>higher</a:t>
            </a:r>
            <a:r>
              <a:rPr lang="en"/>
              <a:t> education will have a positive return on investment</a:t>
            </a:r>
            <a:endParaRPr/>
          </a:p>
          <a:p>
            <a:pPr indent="-342900" lvl="0" marL="457200" rtl="0" algn="l">
              <a:spcBef>
                <a:spcPts val="0"/>
              </a:spcBef>
              <a:spcAft>
                <a:spcPts val="0"/>
              </a:spcAft>
              <a:buSzPts val="1800"/>
              <a:buChar char="●"/>
            </a:pPr>
            <a:r>
              <a:rPr lang="en"/>
              <a:t>The US Department of Education exists to support the pursuit of education and provide resources for potential students. With the complexity and large impact of student loan debt, improved student advisory information is necessary.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Questions to Answer</a:t>
            </a:r>
            <a:endParaRPr/>
          </a:p>
        </p:txBody>
      </p:sp>
      <p:sp>
        <p:nvSpPr>
          <p:cNvPr id="85" name="Google Shape;85;p17"/>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Does the cost of higher education result in a positive return on investment, and what factors influence this outcome?</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How does job supply/demand affect higher education ROI outcomes?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Analysis Techniques</a:t>
            </a:r>
            <a:endParaRPr/>
          </a:p>
        </p:txBody>
      </p:sp>
      <p:sp>
        <p:nvSpPr>
          <p:cNvPr id="91" name="Google Shape;91;p18"/>
          <p:cNvSpPr txBox="1"/>
          <p:nvPr>
            <p:ph idx="1" type="body"/>
          </p:nvPr>
        </p:nvSpPr>
        <p:spPr>
          <a:xfrm>
            <a:off x="311700" y="1171600"/>
            <a:ext cx="8520600" cy="33972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Main Calculations:</a:t>
            </a:r>
            <a:endParaRPr/>
          </a:p>
          <a:p>
            <a:pPr indent="-334328" lvl="0" marL="457200" rtl="0" algn="l">
              <a:spcBef>
                <a:spcPts val="1200"/>
              </a:spcBef>
              <a:spcAft>
                <a:spcPts val="0"/>
              </a:spcAft>
              <a:buSzPct val="100000"/>
              <a:buChar char="●"/>
            </a:pPr>
            <a:r>
              <a:rPr lang="en"/>
              <a:t>Periodic ROI estimates= Post-Grad Earnings-Total Cost of Education</a:t>
            </a:r>
            <a:endParaRPr/>
          </a:p>
          <a:p>
            <a:pPr indent="-334328" lvl="0" marL="457200" rtl="0" algn="l">
              <a:spcBef>
                <a:spcPts val="0"/>
              </a:spcBef>
              <a:spcAft>
                <a:spcPts val="0"/>
              </a:spcAft>
              <a:buSzPct val="100000"/>
              <a:buChar char="●"/>
            </a:pPr>
            <a:r>
              <a:rPr lang="en"/>
              <a:t>Payback Period= Total Debt/Annual Salary</a:t>
            </a:r>
            <a:endParaRPr/>
          </a:p>
          <a:p>
            <a:pPr indent="-334328" lvl="0" marL="457200" rtl="0" algn="l">
              <a:spcBef>
                <a:spcPts val="0"/>
              </a:spcBef>
              <a:spcAft>
                <a:spcPts val="0"/>
              </a:spcAft>
              <a:buSzPct val="100000"/>
              <a:buChar char="●"/>
            </a:pPr>
            <a:r>
              <a:rPr lang="en"/>
              <a:t>Job market structure = jobs by industry/total jobs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Use JMP and Alteryx, Excel</a:t>
            </a:r>
            <a:endParaRPr/>
          </a:p>
          <a:p>
            <a:pPr indent="0" lvl="0" marL="0" rtl="0" algn="l">
              <a:spcBef>
                <a:spcPts val="1200"/>
              </a:spcBef>
              <a:spcAft>
                <a:spcPts val="0"/>
              </a:spcAft>
              <a:buNone/>
            </a:pPr>
            <a:r>
              <a:rPr lang="en"/>
              <a:t>Use regression analysis to determine the most important factors </a:t>
            </a:r>
            <a:r>
              <a:rPr lang="en"/>
              <a:t>affecting ROI</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Common Assumptions Throughout Data</a:t>
            </a:r>
            <a:endParaRPr/>
          </a:p>
        </p:txBody>
      </p:sp>
      <p:sp>
        <p:nvSpPr>
          <p:cNvPr id="97" name="Google Shape;97;p19"/>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Bachelor’s degree graduates in the United States ranging from 1-40 years post graduate</a:t>
            </a:r>
            <a:endParaRPr/>
          </a:p>
          <a:p>
            <a:pPr indent="-317500" lvl="1" marL="914400" rtl="0" algn="l">
              <a:spcBef>
                <a:spcPts val="0"/>
              </a:spcBef>
              <a:spcAft>
                <a:spcPts val="0"/>
              </a:spcAft>
              <a:buSzPts val="1400"/>
              <a:buChar char="○"/>
            </a:pPr>
            <a:r>
              <a:rPr lang="en"/>
              <a:t>Using the starting salary of the graduates up until the end of their career where their return on investment for their degree is the highest</a:t>
            </a:r>
            <a:endParaRPr/>
          </a:p>
          <a:p>
            <a:pPr indent="-342900" lvl="0" marL="457200" rtl="0" algn="l">
              <a:spcBef>
                <a:spcPts val="0"/>
              </a:spcBef>
              <a:spcAft>
                <a:spcPts val="0"/>
              </a:spcAft>
              <a:buSzPts val="1800"/>
              <a:buChar char="●"/>
            </a:pPr>
            <a:r>
              <a:rPr lang="en"/>
              <a:t>Students across different institution types such as healthcare, finance, architecture, etc.</a:t>
            </a:r>
            <a:endParaRPr/>
          </a:p>
          <a:p>
            <a:pPr indent="-317500" lvl="1" marL="914400" rtl="0" algn="l">
              <a:spcBef>
                <a:spcPts val="0"/>
              </a:spcBef>
              <a:spcAft>
                <a:spcPts val="0"/>
              </a:spcAft>
              <a:buSzPts val="1400"/>
              <a:buChar char="○"/>
            </a:pPr>
            <a:r>
              <a:rPr lang="en"/>
              <a:t>Assuming the workers stayed in the same institution their degree gets them into (Finance degree stays in the field of finance)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Data</a:t>
            </a:r>
            <a:endParaRPr/>
          </a:p>
        </p:txBody>
      </p:sp>
      <p:sp>
        <p:nvSpPr>
          <p:cNvPr id="103" name="Google Shape;103;p20"/>
          <p:cNvSpPr txBox="1"/>
          <p:nvPr>
            <p:ph idx="1" type="body"/>
          </p:nvPr>
        </p:nvSpPr>
        <p:spPr>
          <a:xfrm>
            <a:off x="311700" y="1171600"/>
            <a:ext cx="8520600" cy="33972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JMP</a:t>
            </a:r>
            <a:endParaRPr/>
          </a:p>
          <a:p>
            <a:pPr indent="0" lvl="0" marL="0" rtl="0" algn="l">
              <a:spcBef>
                <a:spcPts val="1200"/>
              </a:spcBef>
              <a:spcAft>
                <a:spcPts val="0"/>
              </a:spcAft>
              <a:buNone/>
            </a:pPr>
            <a:r>
              <a:rPr lang="en"/>
              <a:t>Alteryx</a:t>
            </a:r>
            <a:endParaRPr/>
          </a:p>
          <a:p>
            <a:pPr indent="0" lvl="0" marL="0" rtl="0" algn="l">
              <a:spcBef>
                <a:spcPts val="1200"/>
              </a:spcBef>
              <a:spcAft>
                <a:spcPts val="0"/>
              </a:spcAft>
              <a:buNone/>
            </a:pPr>
            <a:r>
              <a:rPr lang="en"/>
              <a:t>Factors to consider:</a:t>
            </a:r>
            <a:endParaRPr/>
          </a:p>
          <a:p>
            <a:pPr indent="-325755" lvl="0" marL="457200" rtl="0" algn="l">
              <a:spcBef>
                <a:spcPts val="1200"/>
              </a:spcBef>
              <a:spcAft>
                <a:spcPts val="0"/>
              </a:spcAft>
              <a:buSzPct val="100000"/>
              <a:buChar char="●"/>
            </a:pPr>
            <a:r>
              <a:rPr lang="en"/>
              <a:t>Level of education</a:t>
            </a:r>
            <a:endParaRPr/>
          </a:p>
          <a:p>
            <a:pPr indent="-325755" lvl="0" marL="457200" rtl="0" algn="l">
              <a:spcBef>
                <a:spcPts val="0"/>
              </a:spcBef>
              <a:spcAft>
                <a:spcPts val="0"/>
              </a:spcAft>
              <a:buSzPct val="100000"/>
              <a:buChar char="●"/>
            </a:pPr>
            <a:r>
              <a:rPr lang="en"/>
              <a:t>Degree type</a:t>
            </a:r>
            <a:endParaRPr/>
          </a:p>
          <a:p>
            <a:pPr indent="-325755" lvl="0" marL="457200" rtl="0" algn="l">
              <a:spcBef>
                <a:spcPts val="0"/>
              </a:spcBef>
              <a:spcAft>
                <a:spcPts val="0"/>
              </a:spcAft>
              <a:buSzPct val="100000"/>
              <a:buChar char="●"/>
            </a:pPr>
            <a:r>
              <a:rPr lang="en"/>
              <a:t>Cost of degree</a:t>
            </a:r>
            <a:endParaRPr/>
          </a:p>
          <a:p>
            <a:pPr indent="-325755" lvl="0" marL="457200" rtl="0" algn="l">
              <a:spcBef>
                <a:spcPts val="0"/>
              </a:spcBef>
              <a:spcAft>
                <a:spcPts val="0"/>
              </a:spcAft>
              <a:buSzPct val="100000"/>
              <a:buChar char="●"/>
            </a:pPr>
            <a:r>
              <a:rPr lang="en"/>
              <a:t>Periodic ROI</a:t>
            </a:r>
            <a:endParaRPr/>
          </a:p>
          <a:p>
            <a:pPr indent="-325755" lvl="0" marL="457200" rtl="0" algn="l">
              <a:spcBef>
                <a:spcPts val="0"/>
              </a:spcBef>
              <a:spcAft>
                <a:spcPts val="0"/>
              </a:spcAft>
              <a:buSzPct val="100000"/>
              <a:buChar char="●"/>
            </a:pPr>
            <a:r>
              <a:rPr lang="en"/>
              <a:t>Job market influence (employment rate)</a:t>
            </a:r>
            <a:endParaRPr/>
          </a:p>
          <a:p>
            <a:pPr indent="-325755" lvl="0" marL="457200" rtl="0" algn="l">
              <a:spcBef>
                <a:spcPts val="0"/>
              </a:spcBef>
              <a:spcAft>
                <a:spcPts val="0"/>
              </a:spcAft>
              <a:buSzPct val="100000"/>
              <a:buChar char="●"/>
            </a:pPr>
            <a:r>
              <a:rPr lang="en"/>
              <a:t>Job market demand</a:t>
            </a:r>
            <a:endParaRPr/>
          </a:p>
          <a:p>
            <a:pPr indent="-325755" lvl="0" marL="457200" rtl="0" algn="l">
              <a:spcBef>
                <a:spcPts val="0"/>
              </a:spcBef>
              <a:spcAft>
                <a:spcPts val="0"/>
              </a:spcAft>
              <a:buSzPct val="100000"/>
              <a:buChar char="●"/>
            </a:pPr>
            <a:r>
              <a:rPr lang="en"/>
              <a:t>Regional variation</a:t>
            </a:r>
            <a:endParaRPr/>
          </a:p>
          <a:p>
            <a:pPr indent="-325755" lvl="0" marL="457200" rtl="0" algn="l">
              <a:spcBef>
                <a:spcPts val="0"/>
              </a:spcBef>
              <a:spcAft>
                <a:spcPts val="0"/>
              </a:spcAft>
              <a:buSzPct val="100000"/>
              <a:buChar char="●"/>
            </a:pPr>
            <a:r>
              <a:rPr lang="en"/>
              <a:t>Institution type</a:t>
            </a:r>
            <a:endParaRPr/>
          </a:p>
          <a:p>
            <a:pPr indent="-325755" lvl="0" marL="457200" rtl="0" algn="l">
              <a:spcBef>
                <a:spcPts val="0"/>
              </a:spcBef>
              <a:spcAft>
                <a:spcPts val="0"/>
              </a:spcAft>
              <a:buSzPct val="100000"/>
              <a:buChar char="●"/>
            </a:pPr>
            <a:r>
              <a:rPr lang="en"/>
              <a:t>Demographic of the recipient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1"/>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Methodology</a:t>
            </a:r>
            <a:endParaRPr/>
          </a:p>
        </p:txBody>
      </p:sp>
      <p:sp>
        <p:nvSpPr>
          <p:cNvPr id="109" name="Google Shape;109;p21"/>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pic>
        <p:nvPicPr>
          <p:cNvPr id="114" name="Google Shape;114;p22"/>
          <p:cNvPicPr preferRelativeResize="0"/>
          <p:nvPr/>
        </p:nvPicPr>
        <p:blipFill>
          <a:blip r:embed="rId3">
            <a:alphaModFix/>
          </a:blip>
          <a:stretch>
            <a:fillRect/>
          </a:stretch>
        </p:blipFill>
        <p:spPr>
          <a:xfrm>
            <a:off x="152400" y="152400"/>
            <a:ext cx="8839202" cy="438405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p23"/>
          <p:cNvPicPr preferRelativeResize="0"/>
          <p:nvPr/>
        </p:nvPicPr>
        <p:blipFill>
          <a:blip r:embed="rId3">
            <a:alphaModFix/>
          </a:blip>
          <a:stretch>
            <a:fillRect/>
          </a:stretch>
        </p:blipFill>
        <p:spPr>
          <a:xfrm>
            <a:off x="152400" y="152400"/>
            <a:ext cx="2231935" cy="4838700"/>
          </a:xfrm>
          <a:prstGeom prst="rect">
            <a:avLst/>
          </a:prstGeom>
          <a:noFill/>
          <a:ln>
            <a:noFill/>
          </a:ln>
        </p:spPr>
      </p:pic>
      <p:pic>
        <p:nvPicPr>
          <p:cNvPr id="120" name="Google Shape;120;p23"/>
          <p:cNvPicPr preferRelativeResize="0"/>
          <p:nvPr/>
        </p:nvPicPr>
        <p:blipFill>
          <a:blip r:embed="rId4">
            <a:alphaModFix/>
          </a:blip>
          <a:stretch>
            <a:fillRect/>
          </a:stretch>
        </p:blipFill>
        <p:spPr>
          <a:xfrm>
            <a:off x="2536735" y="152400"/>
            <a:ext cx="2231935" cy="48387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Paperback">
  <a:themeElements>
    <a:clrScheme name="Paperback">
      <a:dk1>
        <a:srgbClr val="A2C4C9"/>
      </a:dk1>
      <a:lt1>
        <a:srgbClr val="D9D9D9"/>
      </a:lt1>
      <a:dk2>
        <a:srgbClr val="134F5C"/>
      </a:dk2>
      <a:lt2>
        <a:srgbClr val="76A5AF"/>
      </a:lt2>
      <a:accent1>
        <a:srgbClr val="073763"/>
      </a:accent1>
      <a:accent2>
        <a:srgbClr val="666666"/>
      </a:accent2>
      <a:accent3>
        <a:srgbClr val="134F5C"/>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