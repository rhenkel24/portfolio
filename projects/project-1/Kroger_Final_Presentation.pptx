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00" name="notes_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notes_body"/>
          <p:cNvSpPr txBox="1"/>
          <p:nvPr>
            <p:ph idx="1" type="body"/>
          </p:nvPr>
        </p:nvSpPr>
        <p:spPr>
          <a:xfrm>
            <a:off x="685800" y="4343400"/>
            <a:ext cx="7772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200">
                <a:latin typeface="Calibri"/>
              </a:rPr>
              <a:t>EXECUTIVE SUMMARY — SPEAKER SCRIPT</a:t>
            </a:r>
          </a:p>
          <a:p>
            <a:endParaRPr sz="1200">
              <a:latin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200">
                <a:latin typeface="Calibri"/>
              </a:rPr>
              <a:t>"Good [morning/afternoon]. Our group analyzed Kroger Co., ticker KR, for our corporate finance advisory project. Let me walk you through our key findings.</a:t>
            </a:r>
          </a:p>
          <a:p>
            <a:endParaRPr sz="1200">
              <a:latin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200">
                <a:latin typeface="Calibri"/>
              </a:rPr>
              <a:t>Kroger is the second-largest grocery retailer in the United States, with approximately 2,700 stores operating across 35 states. Their primary competitors are Walmart, Target, and Albertsons. Ownership is dominated by institutional investors — 86.32% — with top holders being Vanguard, Berkshire Hathaway, and BlackRock, which signals strong long-term conviction in the business model.</a:t>
            </a:r>
          </a:p>
          <a:p>
            <a:endParaRPr sz="1200">
              <a:latin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200">
                <a:latin typeface="Calibri"/>
              </a:rPr>
              <a:t>On the financial side, Kroger is in solid shape. They have stable, consistent free cash flow ranging from $1.5 to $3.8 billion annually. Their net profit margins are in the 1-2% range — which is actually normal for grocery stores — and their debt-to-equity ratio jumped to 3.03 in 2024 from 1.66 in 2023, reflecting increased reliance on debt, consistent with pecking order behavior.</a:t>
            </a:r>
          </a:p>
          <a:p>
            <a:endParaRPr sz="1200">
              <a:latin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200">
                <a:latin typeface="Calibri"/>
              </a:rPr>
              <a:t>For our 2025 pro forma, we projected sales of $152.77 billion and net income of $3.04 billion, based on a 5-year average growth rate.</a:t>
            </a:r>
          </a:p>
          <a:p>
            <a:endParaRPr sz="1200">
              <a:latin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200">
                <a:latin typeface="Calibri"/>
              </a:rPr>
              <a:t>On valuation, we ran four models: our DDM came in at $61.94, Total Payout at $63.28, DCF at $78.94, and peer multiples averaged $138.96. Our most trusted model — the DCF — gives us an intrinsic value of $78.94, compared to Kroger's January 2025 price of about $60. That tells us Kroger appears modestly undervalued.</a:t>
            </a:r>
          </a:p>
          <a:p>
            <a:endParaRPr sz="1200">
              <a:latin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200">
                <a:latin typeface="Calibri"/>
              </a:rPr>
              <a:t>We'll go through each section in detail, starting with Firm and Peers."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a8f72e03a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9a8f72e03a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a8f72e03a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a8f72e03a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02" name="notes_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notes_body"/>
          <p:cNvSpPr txBox="1"/>
          <p:nvPr>
            <p:ph idx="1" type="body"/>
          </p:nvPr>
        </p:nvSpPr>
        <p:spPr>
          <a:xfrm>
            <a:off x="685800" y="4343400"/>
            <a:ext cx="7772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200">
                <a:latin typeface="Calibri"/>
              </a:rPr>
              <a:t>PRO FORMA — SPEAKER SCRIPT</a:t>
            </a:r>
          </a:p>
          <a:p>
            <a:endParaRPr sz="1200">
              <a:latin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200">
                <a:latin typeface="Calibri"/>
              </a:rPr>
              <a:t>"For our pro forma, we forecasted Kroger's 2025 income statement and balance sheet using carefully selected assumptions for each key driver.</a:t>
            </a:r>
          </a:p>
          <a:p>
            <a:endParaRPr sz="1200">
              <a:latin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200">
                <a:latin typeface="Calibri"/>
              </a:rPr>
              <a:t>Starting with the income statement: we're projecting sales of $152.77 billion. For our sales growth assumption, we used the 5-year average growth rate from 2020 to 2024. We chose this window specifically because it captures Kroger's current operating environment post-COVID, while smoothing out year-to-year volatility. It also excludes older periods where their business looked significantly different.</a:t>
            </a:r>
          </a:p>
          <a:p>
            <a:endParaRPr sz="1200">
              <a:latin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200">
                <a:latin typeface="Calibri"/>
              </a:rPr>
              <a:t>For interest expense, we applied our assumed rate to total debt, resulting in $0.55 billion — this reflects the current rate environment with debt obligations held stable. For our tax rate, we used a 5-year average effective rate of about 21.6%, excluding pre-2018 data because the Tax Cuts and Jobs Act made those rates incomparable.</a:t>
            </a:r>
          </a:p>
          <a:p>
            <a:endParaRPr sz="1200">
              <a:latin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200">
                <a:latin typeface="Calibri"/>
              </a:rPr>
              <a:t>For dividends per share, we projected $1.28 by growing the most recent dividend at our constant growth rate of 13.24%.</a:t>
            </a:r>
          </a:p>
          <a:p>
            <a:endParaRPr sz="1200">
              <a:latin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200">
                <a:latin typeface="Calibri"/>
              </a:rPr>
              <a:t>Looking at the balance sheet: we held long-term debt constant at about $15.8 billion — no major refinancing is expected. We calculated retained earnings as prior-year retained earnings plus net income minus dividends paid. This gave us total equity of about $18.8 billion. Cash serves as our plug at $8.06 billion, which implies Kroger will accumulate modest excess cash in 2025.</a:t>
            </a:r>
          </a:p>
          <a:p>
            <a:endParaRPr sz="1200">
              <a:latin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200">
                <a:latin typeface="Calibri"/>
              </a:rPr>
              <a:t>Our bottom line results: net income of $3.04 billion, ROA of 5.2%, and ROE of 16.2%."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a8f72e03a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9a8f72e03a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c0fb1f6e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c0fb1f6e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c0fb1f6e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dc0fb1f6e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04" name="notes_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notes_body"/>
          <p:cNvSpPr txBox="1"/>
          <p:nvPr>
            <p:ph idx="1" type="body"/>
          </p:nvPr>
        </p:nvSpPr>
        <p:spPr>
          <a:xfrm>
            <a:off x="685800" y="4343400"/>
            <a:ext cx="7772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200">
                <a:latin typeface="Calibri"/>
              </a:rPr>
              <a:t>FIRM VALUATION — SPEAKER SCRIPT</a:t>
            </a:r>
          </a:p>
          <a:p>
            <a:endParaRPr sz="1200">
              <a:latin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200">
                <a:latin typeface="Calibri"/>
              </a:rPr>
              <a:t>"For our firm valuation, we estimated Kroger's intrinsic value using four different methods: the Dividend Discount Model, the Total Payout Model, the DCF Model, and a Comparable Multiples analysis.</a:t>
            </a:r>
          </a:p>
          <a:p>
            <a:endParaRPr sz="1200">
              <a:latin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200">
                <a:latin typeface="Calibri"/>
              </a:rPr>
              <a:t>Starting with the DDM: We used a constant dividend growth rate of 6.29% — we deliberately made this conservative relative to our historical rate of about 13%, because that historical rate is inflated by share buybacks rather than true dividend growth. Using our CDGM cost of equity of 8.22%, the DDM gives us an implied price of $61.94.</a:t>
            </a:r>
          </a:p>
          <a:p>
            <a:endParaRPr sz="1200">
              <a:latin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200">
                <a:latin typeface="Calibri"/>
              </a:rPr>
              <a:t>For the Total Payout Model: We added our forecasted dividends of $753.5 million to our average annual repurchases of $1,345 million. Dividing by shares outstanding, this model implies a price of $63.28. Both income models are sensitive to the spread between the cost of equity and the growth rate.</a:t>
            </a:r>
          </a:p>
          <a:p>
            <a:endParaRPr sz="1200">
              <a:latin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200">
                <a:latin typeface="Calibri"/>
              </a:rPr>
              <a:t>For the DCF: We discounted forecasted free cash flow at our WACC of 6.14%, and used a terminal growth rate of 2.5% — which is conservative and appropriate for a mature, stable grocery business. The DCF produced an implied price of $78.94. This is our most trusted model because it's grounded in Kroger's actual cash flows, less sensitive to individual assumptions, and not distorted by peer differences.</a:t>
            </a:r>
          </a:p>
          <a:p>
            <a:endParaRPr sz="1200">
              <a:latin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200">
                <a:latin typeface="Calibri"/>
              </a:rPr>
              <a:t>For Multiples: We used Walmart, Target, and Albertsons. We excluded Costco because their membership-based model commands premium multiples that would heavily distort our comparison. Averaging across P/S, P/E, EV/EBIT, and EV/EBITDA ratios, we get an average implied price of $138.96 — though Walmart's premium multiples do inflate this average.</a:t>
            </a:r>
          </a:p>
          <a:p>
            <a:endParaRPr sz="1200">
              <a:latin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200">
                <a:latin typeface="Calibri"/>
              </a:rPr>
              <a:t>Our final recommendation: using the DCF as our primary model, we estimate Kroger's intrinsic value at $78.94. Compared to the January 2025 market price of approximately $60, Kroger appears modestly undervalued. Of all our inputs, beta has the greatest single influence on valuation — it directly drives our cost of equity and carries the largest weight in our WACC calculation."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06" name="notes_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notes_body"/>
          <p:cNvSpPr txBox="1"/>
          <p:nvPr>
            <p:ph idx="1" type="body"/>
          </p:nvPr>
        </p:nvSpPr>
        <p:spPr>
          <a:xfrm>
            <a:off x="685800" y="4343400"/>
            <a:ext cx="7772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200">
                <a:latin typeface="Calibri"/>
              </a:rPr>
              <a:t>CONCLUSION — SPEAKER SCRIPT</a:t>
            </a:r>
          </a:p>
          <a:p>
            <a:endParaRPr sz="1200">
              <a:latin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200">
                <a:latin typeface="Calibri"/>
              </a:rPr>
              <a:t>"Let me wrap up our analysis of Kroger.</a:t>
            </a:r>
          </a:p>
          <a:p>
            <a:endParaRPr sz="1200">
              <a:latin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200">
                <a:latin typeface="Calibri"/>
              </a:rPr>
              <a:t>The key takeaways are: Kroger is a defensive, non-cyclical grocery retailer. With approximately 2,700 stores across 35 states, they remained stable through both the 2008-09 financial crisis and COVID-19 — a strong signal about the durability of their business model.</a:t>
            </a:r>
          </a:p>
          <a:p>
            <a:endParaRPr sz="1200">
              <a:latin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200">
                <a:latin typeface="Calibri"/>
              </a:rPr>
              <a:t>Financially, Kroger generates consistent free cash flow between $1.5 and $3.8 billion annually. Their net margins are low at 1-2%, but that's completely normal for grocery. Their debt-to-equity ratio rose to 3.03 in 2024 — elevated, but manageable given their cash flows. This is consistent with the Pecking Order Hypothesis — they prioritize internal financing and turn to debt when needed rather than issuing equity.</a:t>
            </a:r>
          </a:p>
          <a:p>
            <a:endParaRPr sz="1200">
              <a:latin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200">
                <a:latin typeface="Calibri"/>
              </a:rPr>
              <a:t>Their payout policy is a hybrid: stable, committed dividend growth averaging 13.24% annually, combined with flexible, discretionary buybacks. Importantly, these payouts are funded through operating cash flow — not borrowed — which is a healthy sign.</a:t>
            </a:r>
          </a:p>
          <a:p>
            <a:endParaRPr sz="1200">
              <a:latin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200">
                <a:latin typeface="Calibri"/>
              </a:rPr>
              <a:t>For our 2025 forecast, we project sales of $152.77 billion, net income of $3.04 billion, ROA of 5.2%, and ROE of 16.2%.</a:t>
            </a:r>
          </a:p>
          <a:p>
            <a:endParaRPr sz="1200">
              <a:latin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200">
                <a:latin typeface="Calibri"/>
              </a:rPr>
              <a:t>Now our final recommendation: using the DCF as our most trusted model, we estimate Kroger's intrinsic value at $78.94 per share. With the January 2025 market price at approximately $60, that implies Kroger is undervalued by roughly 32%.</a:t>
            </a:r>
          </a:p>
          <a:p>
            <a:endParaRPr sz="1200">
              <a:latin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200">
                <a:latin typeface="Calibri"/>
              </a:rPr>
              <a:t>As CFO, we would recommend maintaining roughly 13% annual dividend growth, keeping buybacks flexible at $1-2 billion, preserving financial flexibility following the failed Albertsons merger, and continuing investment in digital capabilities and supply chain modernization.</a:t>
            </a:r>
          </a:p>
          <a:p>
            <a:endParaRPr sz="1200">
              <a:latin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200">
                <a:latin typeface="Calibri"/>
              </a:rPr>
              <a:t>In summary — Kroger is a financially sound, cash-generating business trading below our estimated intrinsic value. Thank you."</a:t>
            </a:r>
          </a:p>
          <a:p>
            <a:endParaRPr sz="1200">
              <a:latin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89E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/>
        </p:nvSpPr>
        <p:spPr>
          <a:xfrm>
            <a:off x="602050" y="172725"/>
            <a:ext cx="4787100" cy="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1478200" y="387200"/>
            <a:ext cx="681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 xml:space="preserve">Kroger Co. (KR): </a:t>
            </a:r>
            <a:r>
              <a:rPr b="1" lang="en" sz="23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Corporate</a:t>
            </a:r>
            <a:r>
              <a:rPr b="1" lang="en" sz="23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 xml:space="preserve"> finance Advisory Analysis</a:t>
            </a:r>
            <a:endParaRPr b="1" sz="2300" u="sng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" name="Google Shape;6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9300" y="845600"/>
            <a:ext cx="5166447" cy="2908988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3"/>
          <p:cNvSpPr txBox="1"/>
          <p:nvPr/>
        </p:nvSpPr>
        <p:spPr>
          <a:xfrm>
            <a:off x="729400" y="3754600"/>
            <a:ext cx="7562400" cy="22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 381: Section B Group #8</a:t>
            </a:r>
            <a:endParaRPr sz="2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Rex Whitney, Talon Williamson, Gavin Wright, and Reagan Henkel</a:t>
            </a:r>
            <a:endParaRPr sz="2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1" name="Google Shape;7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77975" y="4177475"/>
            <a:ext cx="966025" cy="96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89E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logo" title="kroger_blue_tex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3475" y="3692975"/>
            <a:ext cx="1450525" cy="14505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hdr"/>
          <p:cNvSpPr txBox="1"/>
          <p:nvPr/>
        </p:nvSpPr>
        <p:spPr>
          <a:xfrm>
            <a:off x="1742800" y="603175"/>
            <a:ext cx="67731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2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I.      </a:t>
            </a:r>
            <a:r>
              <a:rPr b="1" lang="en" sz="2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Executive Summary</a:t>
            </a:r>
            <a:endParaRPr sz="2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1" name="l301"/>
          <p:cNvCxnSpPr/>
          <p:nvPr/>
        </p:nvCxnSpPr>
        <p:spPr>
          <a:xfrm>
            <a:off x="-73500" y="2160263"/>
            <a:ext cx="9291000" cy="22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2" name="b302"/>
          <p:cNvSpPr>
            <a:spLocks noTextEdit="1"/>
          </p:cNvSpPr>
          <p:nvPr/>
        </p:nvSpPr>
        <p:spPr>
          <a:xfrm>
            <a:off x="150000" y="2200000"/>
            <a:ext cx="2120000" cy="640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txBody>
          <a:bodyPr/>
          <a:lstStyle/>
        </p:txBody>
      </p:sp>
      <p:sp>
        <p:nvSpPr>
          <p:cNvPr id="303" name="t303"/>
          <p:cNvSpPr txBox="1"/>
          <p:nvPr/>
        </p:nvSpPr>
        <p:spPr>
          <a:xfrm>
            <a:off x="230000" y="2230000"/>
            <a:ext cx="2000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~2,700 Stores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" name="t304"/>
          <p:cNvSpPr txBox="1"/>
          <p:nvPr/>
        </p:nvSpPr>
        <p:spPr>
          <a:xfrm>
            <a:off x="230000" y="2560000"/>
            <a:ext cx="200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CCDDFF"/>
                </a:solidFill>
                <a:latin typeface="Roboto"/>
                <a:ea typeface="Roboto"/>
                <a:cs typeface="Roboto"/>
                <a:sym typeface="Roboto"/>
              </a:rPr>
              <a:t>35 States</a:t>
            </a:r>
            <a:endParaRPr sz="1100">
              <a:solidFill>
                <a:srgbClr val="CCDD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" name="b305"/>
          <p:cNvSpPr>
            <a:spLocks noTextEdit="1"/>
          </p:cNvSpPr>
          <p:nvPr/>
        </p:nvSpPr>
        <p:spPr>
          <a:xfrm>
            <a:off x="2335000" y="2200000"/>
            <a:ext cx="2120000" cy="640000"/>
          </a:xfrm>
          <a:prstGeom prst="rect">
            <a:avLst/>
          </a:prstGeom>
          <a:solidFill>
            <a:srgbClr val="003D8F"/>
          </a:solidFill>
          <a:ln>
            <a:noFill/>
          </a:ln>
        </p:spPr>
        <p:txBody>
          <a:bodyPr/>
          <a:lstStyle/>
        </p:txBody>
      </p:sp>
      <p:sp>
        <p:nvSpPr>
          <p:cNvPr id="306" name="t306"/>
          <p:cNvSpPr txBox="1"/>
          <p:nvPr/>
        </p:nvSpPr>
        <p:spPr>
          <a:xfrm>
            <a:off x="2415000" y="2230000"/>
            <a:ext cx="2000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$152.77B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7" name="t307"/>
          <p:cNvSpPr txBox="1"/>
          <p:nvPr/>
        </p:nvSpPr>
        <p:spPr>
          <a:xfrm>
            <a:off x="2415000" y="2560000"/>
            <a:ext cx="200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CCDDFF"/>
                </a:solidFill>
                <a:latin typeface="Roboto"/>
                <a:ea typeface="Roboto"/>
                <a:cs typeface="Roboto"/>
                <a:sym typeface="Roboto"/>
              </a:rPr>
              <a:t>Projected 2025 Sales</a:t>
            </a:r>
            <a:endParaRPr sz="1100">
              <a:solidFill>
                <a:srgbClr val="CCDD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" name="b308"/>
          <p:cNvSpPr>
            <a:spLocks noTextEdit="1"/>
          </p:cNvSpPr>
          <p:nvPr/>
        </p:nvSpPr>
        <p:spPr>
          <a:xfrm>
            <a:off x="4520000" y="2200000"/>
            <a:ext cx="2120000" cy="640000"/>
          </a:xfrm>
          <a:prstGeom prst="rect">
            <a:avLst/>
          </a:prstGeom>
          <a:solidFill>
            <a:srgbClr val="004FA8"/>
          </a:solidFill>
          <a:ln>
            <a:noFill/>
          </a:ln>
        </p:spPr>
        <p:txBody>
          <a:bodyPr/>
          <a:lstStyle/>
        </p:txBody>
      </p:sp>
      <p:sp>
        <p:nvSpPr>
          <p:cNvPr id="309" name="t309"/>
          <p:cNvSpPr txBox="1"/>
          <p:nvPr/>
        </p:nvSpPr>
        <p:spPr>
          <a:xfrm>
            <a:off x="4600000" y="2230000"/>
            <a:ext cx="2000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$3.04B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t310"/>
          <p:cNvSpPr txBox="1"/>
          <p:nvPr/>
        </p:nvSpPr>
        <p:spPr>
          <a:xfrm>
            <a:off x="4600000" y="2560000"/>
            <a:ext cx="200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CCDDFF"/>
                </a:solidFill>
                <a:latin typeface="Roboto"/>
                <a:ea typeface="Roboto"/>
                <a:cs typeface="Roboto"/>
                <a:sym typeface="Roboto"/>
              </a:rPr>
              <a:t>Projected Net Income</a:t>
            </a:r>
            <a:endParaRPr sz="1100">
              <a:solidFill>
                <a:srgbClr val="CCDD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" name="b311"/>
          <p:cNvSpPr>
            <a:spLocks noTextEdit="1"/>
          </p:cNvSpPr>
          <p:nvPr/>
        </p:nvSpPr>
        <p:spPr>
          <a:xfrm>
            <a:off x="6705000" y="2200000"/>
            <a:ext cx="2120000" cy="640000"/>
          </a:xfrm>
          <a:prstGeom prst="rect">
            <a:avLst/>
          </a:prstGeom>
          <a:solidFill>
            <a:srgbClr val="1A6B1A"/>
          </a:solidFill>
          <a:ln>
            <a:noFill/>
          </a:ln>
        </p:spPr>
        <p:txBody>
          <a:bodyPr/>
          <a:lstStyle/>
        </p:txBody>
      </p:sp>
      <p:sp>
        <p:nvSpPr>
          <p:cNvPr id="312" name="t312"/>
          <p:cNvSpPr txBox="1"/>
          <p:nvPr/>
        </p:nvSpPr>
        <p:spPr>
          <a:xfrm>
            <a:off x="6785000" y="2230000"/>
            <a:ext cx="2000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$78.94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t313"/>
          <p:cNvSpPr txBox="1"/>
          <p:nvPr/>
        </p:nvSpPr>
        <p:spPr>
          <a:xfrm>
            <a:off x="6785000" y="2560000"/>
            <a:ext cx="200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99"/>
                </a:solidFill>
                <a:latin typeface="Roboto"/>
                <a:ea typeface="Roboto"/>
                <a:cs typeface="Roboto"/>
                <a:sym typeface="Roboto"/>
              </a:rPr>
              <a:t>DCF Intrinsic Value</a:t>
            </a:r>
            <a:endParaRPr sz="1100">
              <a:solidFill>
                <a:srgbClr val="CCDD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4" name="l314"/>
          <p:cNvCxnSpPr/>
          <p:nvPr/>
        </p:nvCxnSpPr>
        <p:spPr>
          <a:xfrm>
            <a:off x="-73500" y="2865000"/>
            <a:ext cx="9291000" cy="22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5" name="t315"/>
          <p:cNvSpPr txBox="1"/>
          <p:nvPr/>
        </p:nvSpPr>
        <p:spPr>
          <a:xfrm>
            <a:off x="79200" y="2920000"/>
            <a:ext cx="29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3380"/>
                </a:solidFill>
                <a:latin typeface="Roboto"/>
                <a:ea typeface="Roboto"/>
                <a:cs typeface="Roboto"/>
                <a:sym typeface="Roboto"/>
              </a:rPr>
              <a:t>Company Overview</a:t>
            </a:r>
            <a:endParaRPr b="1" sz="1400">
              <a:solidFill>
                <a:srgbClr val="0033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t316"/>
          <p:cNvSpPr txBox="1"/>
          <p:nvPr/>
        </p:nvSpPr>
        <p:spPr>
          <a:xfrm>
            <a:off x="3080000" y="2920000"/>
            <a:ext cx="29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3380"/>
                </a:solidFill>
                <a:latin typeface="Roboto"/>
                <a:ea typeface="Roboto"/>
                <a:cs typeface="Roboto"/>
                <a:sym typeface="Roboto"/>
              </a:rPr>
              <a:t>Financial Snapshot</a:t>
            </a:r>
            <a:endParaRPr b="1" sz="1400">
              <a:solidFill>
                <a:srgbClr val="0033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t317"/>
          <p:cNvSpPr txBox="1"/>
          <p:nvPr/>
        </p:nvSpPr>
        <p:spPr>
          <a:xfrm>
            <a:off x="6060000" y="2920000"/>
            <a:ext cx="295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3380"/>
                </a:solidFill>
                <a:latin typeface="Roboto"/>
                <a:ea typeface="Roboto"/>
                <a:cs typeface="Roboto"/>
                <a:sym typeface="Roboto"/>
              </a:rPr>
              <a:t>Valuation Summary</a:t>
            </a:r>
            <a:endParaRPr b="1" sz="1400">
              <a:solidFill>
                <a:srgbClr val="0033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t318"/>
          <p:cNvSpPr txBox="1"/>
          <p:nvPr/>
        </p:nvSpPr>
        <p:spPr>
          <a:xfrm>
            <a:off x="79200" y="3220000"/>
            <a:ext cx="1100000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Ticker / Exchange:</a:t>
            </a:r>
            <a:endParaRPr sz="11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" name="t319"/>
          <p:cNvSpPr txBox="1"/>
          <p:nvPr/>
        </p:nvSpPr>
        <p:spPr>
          <a:xfrm>
            <a:off x="1200000" y="3220000"/>
            <a:ext cx="1780000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KR  —  NYSE</a:t>
            </a:r>
            <a:endParaRPr sz="1150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0" name="t320"/>
          <p:cNvSpPr txBox="1"/>
          <p:nvPr/>
        </p:nvSpPr>
        <p:spPr>
          <a:xfrm>
            <a:off x="79200" y="3470000"/>
            <a:ext cx="1100000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HQ:</a:t>
            </a:r>
            <a:endParaRPr sz="11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1" name="t321"/>
          <p:cNvSpPr txBox="1"/>
          <p:nvPr/>
        </p:nvSpPr>
        <p:spPr>
          <a:xfrm>
            <a:off x="1200000" y="3470000"/>
            <a:ext cx="1780000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Cincinnati, Ohio</a:t>
            </a:r>
            <a:endParaRPr sz="1150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" name="t322"/>
          <p:cNvSpPr txBox="1"/>
          <p:nvPr/>
        </p:nvSpPr>
        <p:spPr>
          <a:xfrm>
            <a:off x="79200" y="3720000"/>
            <a:ext cx="1100000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Stores:</a:t>
            </a:r>
            <a:endParaRPr sz="11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" name="t323"/>
          <p:cNvSpPr txBox="1"/>
          <p:nvPr/>
        </p:nvSpPr>
        <p:spPr>
          <a:xfrm>
            <a:off x="1200000" y="3720000"/>
            <a:ext cx="1780000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~2,700 across 35 states</a:t>
            </a:r>
            <a:endParaRPr sz="1150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" name="t324"/>
          <p:cNvSpPr txBox="1"/>
          <p:nvPr/>
        </p:nvSpPr>
        <p:spPr>
          <a:xfrm>
            <a:off x="79200" y="3970000"/>
            <a:ext cx="1100000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Segments:</a:t>
            </a:r>
            <a:endParaRPr sz="11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5" name="t325"/>
          <p:cNvSpPr txBox="1"/>
          <p:nvPr/>
        </p:nvSpPr>
        <p:spPr>
          <a:xfrm>
            <a:off x="1200000" y="3970000"/>
            <a:ext cx="1780000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Grocery, Pharmacy, Fuel, Pickup/Delivery</a:t>
            </a:r>
            <a:endParaRPr sz="1150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" name="t326"/>
          <p:cNvSpPr txBox="1"/>
          <p:nvPr/>
        </p:nvSpPr>
        <p:spPr>
          <a:xfrm>
            <a:off x="79200" y="4220000"/>
            <a:ext cx="1100000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Peers:</a:t>
            </a:r>
            <a:endParaRPr sz="11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7" name="t327"/>
          <p:cNvSpPr txBox="1"/>
          <p:nvPr/>
        </p:nvSpPr>
        <p:spPr>
          <a:xfrm>
            <a:off x="1200000" y="4220000"/>
            <a:ext cx="1780000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Walmart, Target, Albertsons</a:t>
            </a:r>
            <a:endParaRPr sz="1150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" name="t328"/>
          <p:cNvSpPr txBox="1"/>
          <p:nvPr/>
        </p:nvSpPr>
        <p:spPr>
          <a:xfrm>
            <a:off x="79200" y="4470000"/>
            <a:ext cx="1100000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Ownership:</a:t>
            </a:r>
            <a:endParaRPr sz="11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" name="t329"/>
          <p:cNvSpPr txBox="1"/>
          <p:nvPr/>
        </p:nvSpPr>
        <p:spPr>
          <a:xfrm>
            <a:off x="1200000" y="4470000"/>
            <a:ext cx="1780000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86.32% Institutional</a:t>
            </a:r>
            <a:endParaRPr sz="1150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t330"/>
          <p:cNvSpPr txBox="1"/>
          <p:nvPr/>
        </p:nvSpPr>
        <p:spPr>
          <a:xfrm>
            <a:off x="79200" y="4720000"/>
            <a:ext cx="1100000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Top Holders:</a:t>
            </a:r>
            <a:endParaRPr sz="11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" name="t331"/>
          <p:cNvSpPr txBox="1"/>
          <p:nvPr/>
        </p:nvSpPr>
        <p:spPr>
          <a:xfrm>
            <a:off x="1200000" y="4720000"/>
            <a:ext cx="1780000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Vanguard, Berkshire, BlackRock</a:t>
            </a:r>
            <a:endParaRPr sz="1150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t332"/>
          <p:cNvSpPr txBox="1"/>
          <p:nvPr/>
        </p:nvSpPr>
        <p:spPr>
          <a:xfrm>
            <a:off x="3080000" y="3220000"/>
            <a:ext cx="1200000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Current Ratio (2024):</a:t>
            </a:r>
            <a:endParaRPr sz="11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t333"/>
          <p:cNvSpPr txBox="1"/>
          <p:nvPr/>
        </p:nvSpPr>
        <p:spPr>
          <a:xfrm>
            <a:off x="4300000" y="3220000"/>
            <a:ext cx="1680000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0.96</a:t>
            </a:r>
            <a:endParaRPr sz="1150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" name="t334"/>
          <p:cNvSpPr txBox="1"/>
          <p:nvPr/>
        </p:nvSpPr>
        <p:spPr>
          <a:xfrm>
            <a:off x="3080000" y="3470000"/>
            <a:ext cx="1200000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D/E Ratio (2024):</a:t>
            </a:r>
            <a:endParaRPr sz="11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" name="t335"/>
          <p:cNvSpPr txBox="1"/>
          <p:nvPr/>
        </p:nvSpPr>
        <p:spPr>
          <a:xfrm>
            <a:off x="4300000" y="3470000"/>
            <a:ext cx="1680000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3.03  (up from 1.66 in 2023)</a:t>
            </a:r>
            <a:endParaRPr sz="1150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" name="t336"/>
          <p:cNvSpPr txBox="1"/>
          <p:nvPr/>
        </p:nvSpPr>
        <p:spPr>
          <a:xfrm>
            <a:off x="3080000" y="3720000"/>
            <a:ext cx="1200000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TIE (2024):</a:t>
            </a:r>
            <a:endParaRPr sz="11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" name="t337"/>
          <p:cNvSpPr txBox="1"/>
          <p:nvPr/>
        </p:nvSpPr>
        <p:spPr>
          <a:xfrm>
            <a:off x="4300000" y="3720000"/>
            <a:ext cx="1680000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10.10</a:t>
            </a:r>
            <a:endParaRPr sz="1150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" name="t338"/>
          <p:cNvSpPr txBox="1"/>
          <p:nvPr/>
        </p:nvSpPr>
        <p:spPr>
          <a:xfrm>
            <a:off x="3080000" y="3970000"/>
            <a:ext cx="1200000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Net Profit Margin:</a:t>
            </a:r>
            <a:endParaRPr sz="11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" name="t339"/>
          <p:cNvSpPr txBox="1"/>
          <p:nvPr/>
        </p:nvSpPr>
        <p:spPr>
          <a:xfrm>
            <a:off x="4300000" y="3970000"/>
            <a:ext cx="1680000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~1-2%  (typical for grocers)</a:t>
            </a:r>
            <a:endParaRPr sz="1150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" name="t340"/>
          <p:cNvSpPr txBox="1"/>
          <p:nvPr/>
        </p:nvSpPr>
        <p:spPr>
          <a:xfrm>
            <a:off x="3080000" y="4220000"/>
            <a:ext cx="1200000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ROA:</a:t>
            </a:r>
            <a:endParaRPr sz="11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t341"/>
          <p:cNvSpPr txBox="1"/>
          <p:nvPr/>
        </p:nvSpPr>
        <p:spPr>
          <a:xfrm>
            <a:off x="4300000" y="4220000"/>
            <a:ext cx="1680000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5.2%  (projected 2025)</a:t>
            </a:r>
            <a:endParaRPr sz="1150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" name="t342"/>
          <p:cNvSpPr txBox="1"/>
          <p:nvPr/>
        </p:nvSpPr>
        <p:spPr>
          <a:xfrm>
            <a:off x="3080000" y="4470000"/>
            <a:ext cx="1200000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ROE:</a:t>
            </a:r>
            <a:endParaRPr sz="11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" name="t343"/>
          <p:cNvSpPr txBox="1"/>
          <p:nvPr/>
        </p:nvSpPr>
        <p:spPr>
          <a:xfrm>
            <a:off x="4300000" y="4470000"/>
            <a:ext cx="1680000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16.2%  (projected 2025)</a:t>
            </a:r>
            <a:endParaRPr sz="1150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" name="t344"/>
          <p:cNvSpPr txBox="1"/>
          <p:nvPr/>
        </p:nvSpPr>
        <p:spPr>
          <a:xfrm>
            <a:off x="3080000" y="4720000"/>
            <a:ext cx="1200000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FCF Range:</a:t>
            </a:r>
            <a:endParaRPr sz="11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" name="t345"/>
          <p:cNvSpPr txBox="1"/>
          <p:nvPr/>
        </p:nvSpPr>
        <p:spPr>
          <a:xfrm>
            <a:off x="4300000" y="4720000"/>
            <a:ext cx="1680000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$1.5B – $3.8B annually</a:t>
            </a:r>
            <a:endParaRPr sz="1150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6" name="t346"/>
          <p:cNvSpPr txBox="1"/>
          <p:nvPr/>
        </p:nvSpPr>
        <p:spPr>
          <a:xfrm>
            <a:off x="6060000" y="3220000"/>
            <a:ext cx="1200000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WACC:</a:t>
            </a:r>
            <a:endParaRPr sz="11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7" name="t347"/>
          <p:cNvSpPr txBox="1"/>
          <p:nvPr/>
        </p:nvSpPr>
        <p:spPr>
          <a:xfrm>
            <a:off x="7280000" y="3220000"/>
            <a:ext cx="1700000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6.14%</a:t>
            </a:r>
            <a:endParaRPr sz="1150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" name="t348"/>
          <p:cNvSpPr txBox="1"/>
          <p:nvPr/>
        </p:nvSpPr>
        <p:spPr>
          <a:xfrm>
            <a:off x="6060000" y="3470000"/>
            <a:ext cx="1200000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Beta:</a:t>
            </a:r>
            <a:endParaRPr sz="11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9" name="t349"/>
          <p:cNvSpPr txBox="1"/>
          <p:nvPr/>
        </p:nvSpPr>
        <p:spPr>
          <a:xfrm>
            <a:off x="7280000" y="3470000"/>
            <a:ext cx="1700000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0.469  (5-yr monthly)</a:t>
            </a:r>
            <a:endParaRPr sz="1150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" name="t350"/>
          <p:cNvSpPr txBox="1"/>
          <p:nvPr/>
        </p:nvSpPr>
        <p:spPr>
          <a:xfrm>
            <a:off x="6060000" y="3720000"/>
            <a:ext cx="1200000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DDM:</a:t>
            </a:r>
            <a:endParaRPr sz="11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1" name="t351"/>
          <p:cNvSpPr txBox="1"/>
          <p:nvPr/>
        </p:nvSpPr>
        <p:spPr>
          <a:xfrm>
            <a:off x="7280000" y="3720000"/>
            <a:ext cx="1700000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$61.94</a:t>
            </a:r>
            <a:endParaRPr sz="1150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2" name="t352"/>
          <p:cNvSpPr txBox="1"/>
          <p:nvPr/>
        </p:nvSpPr>
        <p:spPr>
          <a:xfrm>
            <a:off x="6060000" y="3970000"/>
            <a:ext cx="1200000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Total Payout:</a:t>
            </a:r>
            <a:endParaRPr sz="11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3" name="t353"/>
          <p:cNvSpPr txBox="1"/>
          <p:nvPr/>
        </p:nvSpPr>
        <p:spPr>
          <a:xfrm>
            <a:off x="7280000" y="3970000"/>
            <a:ext cx="1700000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$63.28</a:t>
            </a:r>
            <a:endParaRPr sz="1150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" name="t354"/>
          <p:cNvSpPr txBox="1"/>
          <p:nvPr/>
        </p:nvSpPr>
        <p:spPr>
          <a:xfrm>
            <a:off x="6060000" y="4220000"/>
            <a:ext cx="1200000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DCF:</a:t>
            </a:r>
            <a:endParaRPr sz="11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5" name="t355"/>
          <p:cNvSpPr txBox="1"/>
          <p:nvPr/>
        </p:nvSpPr>
        <p:spPr>
          <a:xfrm>
            <a:off x="7280000" y="4220000"/>
            <a:ext cx="1700000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06400"/>
                </a:solidFill>
                <a:latin typeface="Roboto"/>
                <a:ea typeface="Roboto"/>
                <a:cs typeface="Roboto"/>
                <a:sym typeface="Roboto"/>
              </a:rPr>
              <a:t>$78.94  ★ Most Trusted</a:t>
            </a:r>
            <a:endParaRPr b="1" sz="1150">
              <a:solidFill>
                <a:srgbClr val="0064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6" name="t356"/>
          <p:cNvSpPr txBox="1"/>
          <p:nvPr/>
        </p:nvSpPr>
        <p:spPr>
          <a:xfrm>
            <a:off x="6060000" y="4470000"/>
            <a:ext cx="1200000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Peer Multiples Avg.:</a:t>
            </a:r>
            <a:endParaRPr sz="11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7" name="t357"/>
          <p:cNvSpPr txBox="1"/>
          <p:nvPr/>
        </p:nvSpPr>
        <p:spPr>
          <a:xfrm>
            <a:off x="7280000" y="4470000"/>
            <a:ext cx="1700000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$138.96</a:t>
            </a:r>
            <a:endParaRPr sz="1150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" name="t358"/>
          <p:cNvSpPr txBox="1"/>
          <p:nvPr/>
        </p:nvSpPr>
        <p:spPr>
          <a:xfrm>
            <a:off x="6060000" y="4720000"/>
            <a:ext cx="1200000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Market Price (Jan 25):</a:t>
            </a:r>
            <a:endParaRPr sz="11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9" name="t359"/>
          <p:cNvSpPr txBox="1"/>
          <p:nvPr/>
        </p:nvSpPr>
        <p:spPr>
          <a:xfrm>
            <a:off x="7280000" y="4720000"/>
            <a:ext cx="1700000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highlight>
                  <a:srgbClr val="FFFF00"/>
                </a:highlight>
                <a:latin typeface="Roboto"/>
                <a:ea typeface="Roboto"/>
                <a:cs typeface="Roboto"/>
                <a:sym typeface="Roboto"/>
              </a:rPr>
              <a:t>~$60  →  UNDERVALUED</a:t>
            </a:r>
            <a:endParaRPr b="1" sz="1150"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89E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5" title="kroger_blue_tex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3475" y="3692975"/>
            <a:ext cx="1450525" cy="145052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/>
        </p:nvSpPr>
        <p:spPr>
          <a:xfrm>
            <a:off x="1391400" y="261850"/>
            <a:ext cx="4188600" cy="9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2089350" y="1713325"/>
            <a:ext cx="49653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Kroger’s Peers</a:t>
            </a:r>
            <a:endParaRPr b="1"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1014750" y="2187300"/>
            <a:ext cx="7114500" cy="29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Walmart: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 xml:space="preserve"> Very similar 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operation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 xml:space="preserve"> model- has a retail grocery store, fuel center, and pharmacy.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Target: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 xml:space="preserve"> 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Similar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 xml:space="preserve"> aspects with 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retail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 xml:space="preserve"> grocery 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and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 xml:space="preserve"> pharmacy. Kroger and Target have market caps is similar ranges.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Albertsons: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 xml:space="preserve"> Close 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competitor, similar operational model, however,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 xml:space="preserve"> they have less stores and a much smaller market cap.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1815600" y="563150"/>
            <a:ext cx="5512800" cy="8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2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II.        </a:t>
            </a:r>
            <a:r>
              <a:rPr b="1" lang="en" sz="2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     Selection of Peers</a:t>
            </a:r>
            <a:endParaRPr sz="2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89E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6" title="kroger_blue_tex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3475" y="3692975"/>
            <a:ext cx="1450525" cy="14505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 txBox="1"/>
          <p:nvPr/>
        </p:nvSpPr>
        <p:spPr>
          <a:xfrm>
            <a:off x="1815600" y="527975"/>
            <a:ext cx="5512800" cy="8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2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III</a:t>
            </a:r>
            <a:r>
              <a:rPr lang="en" sz="2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.        </a:t>
            </a:r>
            <a:r>
              <a:rPr b="1" lang="en" sz="2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     Financial Analysis</a:t>
            </a:r>
            <a:endParaRPr sz="2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452325" y="1660725"/>
            <a:ext cx="6758700" cy="30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 xml:space="preserve">Current ratio stayed below 1.0 For over ten years, Current ratio ranges between 0.72 to 1.01 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Inventory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 xml:space="preserve"> days decrease from 41.9 days in 2000 to 22.71 days today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 xml:space="preserve">Accounts Payable has been high, in 2024 shows 32.97 days.  Their cash conversion cycle has 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remained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 xml:space="preserve"> low. 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Kroger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 xml:space="preserve"> has increased their D/E from 2023 at 1.66 and in 2024 reaching 3.03. TIE has be trending up in 2024 it was 10.10 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Overall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 xml:space="preserve"> Kroger’s financial 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position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 xml:space="preserve"> is strong, they have shown consistent 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profitability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 xml:space="preserve"> and stable revenue despite their increase in debt 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 xml:space="preserve">recently. 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89E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logo" title="kroger_blue_tex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3475" y="3692975"/>
            <a:ext cx="1450525" cy="145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hdr"/>
          <p:cNvSpPr txBox="1"/>
          <p:nvPr/>
        </p:nvSpPr>
        <p:spPr>
          <a:xfrm>
            <a:off x="1742800" y="603175"/>
            <a:ext cx="67731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2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IV.      </a:t>
            </a:r>
            <a:r>
              <a:rPr b="1" lang="en" sz="2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 Forma</a:t>
            </a:r>
            <a:endParaRPr sz="2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1" name="l501"/>
          <p:cNvCxnSpPr/>
          <p:nvPr/>
        </p:nvCxnSpPr>
        <p:spPr>
          <a:xfrm>
            <a:off x="-73500" y="2160263"/>
            <a:ext cx="9291000" cy="22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2" name="t502"/>
          <p:cNvSpPr txBox="1"/>
          <p:nvPr/>
        </p:nvSpPr>
        <p:spPr>
          <a:xfrm>
            <a:off x="79200" y="2200000"/>
            <a:ext cx="29271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Roboto"/>
                <a:ea typeface="Roboto"/>
                <a:cs typeface="Roboto"/>
                <a:sym typeface="Roboto"/>
              </a:rPr>
              <a:t>Income Statement  (2025)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3" name="t503"/>
          <p:cNvSpPr txBox="1"/>
          <p:nvPr/>
        </p:nvSpPr>
        <p:spPr>
          <a:xfrm>
            <a:off x="3086700" y="2200000"/>
            <a:ext cx="29712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Roboto"/>
                <a:ea typeface="Roboto"/>
                <a:cs typeface="Roboto"/>
                <a:sym typeface="Roboto"/>
              </a:rPr>
              <a:t>Balance Sheet  (2025)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4" name="t504"/>
          <p:cNvSpPr txBox="1"/>
          <p:nvPr/>
        </p:nvSpPr>
        <p:spPr>
          <a:xfrm>
            <a:off x="6058200" y="2200000"/>
            <a:ext cx="29712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Roboto"/>
                <a:ea typeface="Roboto"/>
                <a:cs typeface="Roboto"/>
                <a:sym typeface="Roboto"/>
              </a:rPr>
              <a:t>Key Assumptions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5" name="l505"/>
          <p:cNvCxnSpPr/>
          <p:nvPr/>
        </p:nvCxnSpPr>
        <p:spPr>
          <a:xfrm>
            <a:off x="-73500" y="2500000"/>
            <a:ext cx="9291000" cy="22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6" name="t506"/>
          <p:cNvSpPr txBox="1"/>
          <p:nvPr/>
        </p:nvSpPr>
        <p:spPr>
          <a:xfrm>
            <a:off x="99200" y="2525000"/>
            <a:ext cx="13000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Sales:</a:t>
            </a:r>
            <a:endParaRPr sz="10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7" name="t507"/>
          <p:cNvSpPr txBox="1"/>
          <p:nvPr/>
        </p:nvSpPr>
        <p:spPr>
          <a:xfrm>
            <a:off x="1409200" y="2525000"/>
            <a:ext cx="15571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FFFF00"/>
                </a:highlight>
                <a:latin typeface="Roboto"/>
                <a:ea typeface="Roboto"/>
                <a:cs typeface="Roboto"/>
                <a:sym typeface="Roboto"/>
              </a:rPr>
              <a:t>$152.77B</a:t>
            </a:r>
            <a:endParaRPr b="1" sz="1600"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8" name="t508"/>
          <p:cNvSpPr txBox="1"/>
          <p:nvPr/>
        </p:nvSpPr>
        <p:spPr>
          <a:xfrm>
            <a:off x="99200" y="2810000"/>
            <a:ext cx="13000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COGS incl. D&amp;A:</a:t>
            </a:r>
            <a:endParaRPr sz="10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9" name="t509"/>
          <p:cNvSpPr txBox="1"/>
          <p:nvPr/>
        </p:nvSpPr>
        <p:spPr>
          <a:xfrm>
            <a:off x="1409200" y="2810000"/>
            <a:ext cx="15571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$121.82B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0" name="t510"/>
          <p:cNvSpPr txBox="1"/>
          <p:nvPr/>
        </p:nvSpPr>
        <p:spPr>
          <a:xfrm>
            <a:off x="99200" y="3095000"/>
            <a:ext cx="13000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Gross Income:</a:t>
            </a:r>
            <a:endParaRPr sz="10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1" name="t511"/>
          <p:cNvSpPr txBox="1"/>
          <p:nvPr/>
        </p:nvSpPr>
        <p:spPr>
          <a:xfrm>
            <a:off x="1409200" y="3095000"/>
            <a:ext cx="15571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$30.95B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2" name="t512"/>
          <p:cNvSpPr txBox="1"/>
          <p:nvPr/>
        </p:nvSpPr>
        <p:spPr>
          <a:xfrm>
            <a:off x="99200" y="3380000"/>
            <a:ext cx="13000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SG&amp;A Expense:</a:t>
            </a:r>
            <a:endParaRPr sz="10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3" name="t513"/>
          <p:cNvSpPr txBox="1"/>
          <p:nvPr/>
        </p:nvSpPr>
        <p:spPr>
          <a:xfrm>
            <a:off x="1409200" y="3380000"/>
            <a:ext cx="15571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$26.51B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4" name="t514"/>
          <p:cNvSpPr txBox="1"/>
          <p:nvPr/>
        </p:nvSpPr>
        <p:spPr>
          <a:xfrm>
            <a:off x="99200" y="3665000"/>
            <a:ext cx="13000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EBIT:</a:t>
            </a:r>
            <a:endParaRPr sz="10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t515"/>
          <p:cNvSpPr txBox="1"/>
          <p:nvPr/>
        </p:nvSpPr>
        <p:spPr>
          <a:xfrm>
            <a:off x="1409200" y="3665000"/>
            <a:ext cx="15571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$4.44B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6" name="t516"/>
          <p:cNvSpPr txBox="1"/>
          <p:nvPr/>
        </p:nvSpPr>
        <p:spPr>
          <a:xfrm>
            <a:off x="99200" y="3950000"/>
            <a:ext cx="13000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Interest Expense:</a:t>
            </a:r>
            <a:endParaRPr sz="10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7" name="t517"/>
          <p:cNvSpPr txBox="1"/>
          <p:nvPr/>
        </p:nvSpPr>
        <p:spPr>
          <a:xfrm>
            <a:off x="1409200" y="3950000"/>
            <a:ext cx="15571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$0.55B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8" name="t518"/>
          <p:cNvSpPr txBox="1"/>
          <p:nvPr/>
        </p:nvSpPr>
        <p:spPr>
          <a:xfrm>
            <a:off x="99200" y="4235000"/>
            <a:ext cx="13000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Pretax Income:</a:t>
            </a:r>
            <a:endParaRPr sz="10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9" name="t519"/>
          <p:cNvSpPr txBox="1"/>
          <p:nvPr/>
        </p:nvSpPr>
        <p:spPr>
          <a:xfrm>
            <a:off x="1409200" y="4235000"/>
            <a:ext cx="15571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$3.88B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0" name="t520"/>
          <p:cNvSpPr txBox="1"/>
          <p:nvPr/>
        </p:nvSpPr>
        <p:spPr>
          <a:xfrm>
            <a:off x="99200" y="4520000"/>
            <a:ext cx="13000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Net Income:</a:t>
            </a:r>
            <a:endParaRPr sz="10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1" name="t521"/>
          <p:cNvSpPr txBox="1"/>
          <p:nvPr/>
        </p:nvSpPr>
        <p:spPr>
          <a:xfrm>
            <a:off x="1409200" y="4520000"/>
            <a:ext cx="15571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highlight>
                  <a:srgbClr val="FFFF00"/>
                </a:highlight>
                <a:latin typeface="Roboto"/>
                <a:ea typeface="Roboto"/>
                <a:cs typeface="Roboto"/>
                <a:sym typeface="Roboto"/>
              </a:rPr>
              <a:t>$3.04B</a:t>
            </a:r>
            <a:endParaRPr b="1" sz="1500"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2" name="t522"/>
          <p:cNvSpPr txBox="1"/>
          <p:nvPr/>
        </p:nvSpPr>
        <p:spPr>
          <a:xfrm>
            <a:off x="99200" y="4805000"/>
            <a:ext cx="13000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ROA:</a:t>
            </a:r>
            <a:endParaRPr sz="10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3" name="t523"/>
          <p:cNvSpPr txBox="1"/>
          <p:nvPr/>
        </p:nvSpPr>
        <p:spPr>
          <a:xfrm>
            <a:off x="1409200" y="4805000"/>
            <a:ext cx="15571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latin typeface="Roboto"/>
                <a:ea typeface="Roboto"/>
                <a:cs typeface="Roboto"/>
                <a:sym typeface="Roboto"/>
              </a:rPr>
              <a:t>5.16%</a:t>
            </a:r>
            <a:endParaRPr b="1" sz="135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4" name="t524"/>
          <p:cNvSpPr txBox="1"/>
          <p:nvPr/>
        </p:nvSpPr>
        <p:spPr>
          <a:xfrm>
            <a:off x="99200" y="5090000"/>
            <a:ext cx="13000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ROE:</a:t>
            </a:r>
            <a:endParaRPr sz="10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5" name="t525"/>
          <p:cNvSpPr txBox="1"/>
          <p:nvPr/>
        </p:nvSpPr>
        <p:spPr>
          <a:xfrm>
            <a:off x="1409200" y="5090000"/>
            <a:ext cx="15571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latin typeface="Roboto"/>
                <a:ea typeface="Roboto"/>
                <a:cs typeface="Roboto"/>
                <a:sym typeface="Roboto"/>
              </a:rPr>
              <a:t>16.17%</a:t>
            </a:r>
            <a:endParaRPr b="1" sz="135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6" name="t526"/>
          <p:cNvSpPr txBox="1"/>
          <p:nvPr/>
        </p:nvSpPr>
        <p:spPr>
          <a:xfrm>
            <a:off x="3106700" y="2525000"/>
            <a:ext cx="13000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Cash (plug):</a:t>
            </a:r>
            <a:endParaRPr sz="10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7" name="t527"/>
          <p:cNvSpPr txBox="1"/>
          <p:nvPr/>
        </p:nvSpPr>
        <p:spPr>
          <a:xfrm>
            <a:off x="4416700" y="2525000"/>
            <a:ext cx="16012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$8,065M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8" name="t528"/>
          <p:cNvSpPr txBox="1"/>
          <p:nvPr/>
        </p:nvSpPr>
        <p:spPr>
          <a:xfrm>
            <a:off x="3106700" y="2810000"/>
            <a:ext cx="13000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ST Receivables:</a:t>
            </a:r>
            <a:endParaRPr sz="10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9" name="t529"/>
          <p:cNvSpPr txBox="1"/>
          <p:nvPr/>
        </p:nvSpPr>
        <p:spPr>
          <a:xfrm>
            <a:off x="4416700" y="2810000"/>
            <a:ext cx="16012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$2,167M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0" name="t530"/>
          <p:cNvSpPr txBox="1"/>
          <p:nvPr/>
        </p:nvSpPr>
        <p:spPr>
          <a:xfrm>
            <a:off x="3106700" y="3095000"/>
            <a:ext cx="13000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Inventories:</a:t>
            </a:r>
            <a:endParaRPr sz="10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1" name="t531"/>
          <p:cNvSpPr txBox="1"/>
          <p:nvPr/>
        </p:nvSpPr>
        <p:spPr>
          <a:xfrm>
            <a:off x="4416700" y="3095000"/>
            <a:ext cx="16012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$7,598M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2" name="t532"/>
          <p:cNvSpPr txBox="1"/>
          <p:nvPr/>
        </p:nvSpPr>
        <p:spPr>
          <a:xfrm>
            <a:off x="3106700" y="3380000"/>
            <a:ext cx="13000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Total Current Assets:</a:t>
            </a:r>
            <a:endParaRPr sz="10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3" name="t533"/>
          <p:cNvSpPr txBox="1"/>
          <p:nvPr/>
        </p:nvSpPr>
        <p:spPr>
          <a:xfrm>
            <a:off x="4416700" y="3380000"/>
            <a:ext cx="16012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$18,613M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4" name="t534"/>
          <p:cNvSpPr txBox="1"/>
          <p:nvPr/>
        </p:nvSpPr>
        <p:spPr>
          <a:xfrm>
            <a:off x="3106700" y="3665000"/>
            <a:ext cx="13000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Net PP&amp;E:</a:t>
            </a:r>
            <a:endParaRPr sz="10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5" name="t535"/>
          <p:cNvSpPr txBox="1"/>
          <p:nvPr/>
        </p:nvSpPr>
        <p:spPr>
          <a:xfrm>
            <a:off x="4416700" y="3665000"/>
            <a:ext cx="16012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$33,212M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6" name="t536"/>
          <p:cNvSpPr txBox="1"/>
          <p:nvPr/>
        </p:nvSpPr>
        <p:spPr>
          <a:xfrm>
            <a:off x="3106700" y="3950000"/>
            <a:ext cx="13000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Total Assets:</a:t>
            </a:r>
            <a:endParaRPr sz="10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7" name="t537"/>
          <p:cNvSpPr txBox="1"/>
          <p:nvPr/>
        </p:nvSpPr>
        <p:spPr>
          <a:xfrm>
            <a:off x="4416700" y="3950000"/>
            <a:ext cx="16012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latin typeface="Roboto"/>
                <a:ea typeface="Roboto"/>
                <a:cs typeface="Roboto"/>
                <a:sym typeface="Roboto"/>
              </a:rPr>
              <a:t>$58,960M</a:t>
            </a:r>
            <a:endParaRPr b="1" sz="135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8" name="t538"/>
          <p:cNvSpPr txBox="1"/>
          <p:nvPr/>
        </p:nvSpPr>
        <p:spPr>
          <a:xfrm>
            <a:off x="3106700" y="4235000"/>
            <a:ext cx="13000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Total Curr. Liab.:</a:t>
            </a:r>
            <a:endParaRPr sz="10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9" name="t539"/>
          <p:cNvSpPr txBox="1"/>
          <p:nvPr/>
        </p:nvSpPr>
        <p:spPr>
          <a:xfrm>
            <a:off x="4416700" y="4235000"/>
            <a:ext cx="16012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$17,293M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0" name="t540"/>
          <p:cNvSpPr txBox="1"/>
          <p:nvPr/>
        </p:nvSpPr>
        <p:spPr>
          <a:xfrm>
            <a:off x="3106700" y="4520000"/>
            <a:ext cx="13000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Long-Term Debt:</a:t>
            </a:r>
            <a:endParaRPr sz="10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1" name="t541"/>
          <p:cNvSpPr txBox="1"/>
          <p:nvPr/>
        </p:nvSpPr>
        <p:spPr>
          <a:xfrm>
            <a:off x="4416700" y="4520000"/>
            <a:ext cx="16012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$15,805M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2" name="t542"/>
          <p:cNvSpPr txBox="1"/>
          <p:nvPr/>
        </p:nvSpPr>
        <p:spPr>
          <a:xfrm>
            <a:off x="3106700" y="4805000"/>
            <a:ext cx="13000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Total Equity:</a:t>
            </a:r>
            <a:endParaRPr sz="10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3" name="t543"/>
          <p:cNvSpPr txBox="1"/>
          <p:nvPr/>
        </p:nvSpPr>
        <p:spPr>
          <a:xfrm>
            <a:off x="4416700" y="4805000"/>
            <a:ext cx="16012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$18,821M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" name="t544"/>
          <p:cNvSpPr txBox="1"/>
          <p:nvPr/>
        </p:nvSpPr>
        <p:spPr>
          <a:xfrm>
            <a:off x="3106700" y="5090000"/>
            <a:ext cx="13000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Total Liab. &amp; Eq.:</a:t>
            </a:r>
            <a:endParaRPr sz="10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5" name="t545"/>
          <p:cNvSpPr txBox="1"/>
          <p:nvPr/>
        </p:nvSpPr>
        <p:spPr>
          <a:xfrm>
            <a:off x="4416700" y="5090000"/>
            <a:ext cx="16012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highlight>
                  <a:srgbClr val="FFFF00"/>
                </a:highlight>
                <a:latin typeface="Roboto"/>
                <a:ea typeface="Roboto"/>
                <a:cs typeface="Roboto"/>
                <a:sym typeface="Roboto"/>
              </a:rPr>
              <a:t>$58,960M</a:t>
            </a:r>
            <a:endParaRPr b="1" sz="1500"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6" name="t546"/>
          <p:cNvSpPr txBox="1"/>
          <p:nvPr/>
        </p:nvSpPr>
        <p:spPr>
          <a:xfrm>
            <a:off x="6078200" y="2525000"/>
            <a:ext cx="13000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Sales Growth:</a:t>
            </a:r>
            <a:endParaRPr sz="10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7" name="t547"/>
          <p:cNvSpPr txBox="1"/>
          <p:nvPr/>
        </p:nvSpPr>
        <p:spPr>
          <a:xfrm>
            <a:off x="7388200" y="2525000"/>
            <a:ext cx="16012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5-yr avg. 2020-2024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8" name="t548"/>
          <p:cNvSpPr txBox="1"/>
          <p:nvPr/>
        </p:nvSpPr>
        <p:spPr>
          <a:xfrm>
            <a:off x="6078200" y="2810000"/>
            <a:ext cx="13000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Interest Exp.:</a:t>
            </a:r>
            <a:endParaRPr sz="10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9" name="t549"/>
          <p:cNvSpPr txBox="1"/>
          <p:nvPr/>
        </p:nvSpPr>
        <p:spPr>
          <a:xfrm>
            <a:off x="7388200" y="2810000"/>
            <a:ext cx="16012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Rate x debt  →  $0.55B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t550"/>
          <p:cNvSpPr txBox="1"/>
          <p:nvPr/>
        </p:nvSpPr>
        <p:spPr>
          <a:xfrm>
            <a:off x="6078200" y="3095000"/>
            <a:ext cx="13000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Tax Rate:</a:t>
            </a:r>
            <a:endParaRPr sz="10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1" name="t551"/>
          <p:cNvSpPr txBox="1"/>
          <p:nvPr/>
        </p:nvSpPr>
        <p:spPr>
          <a:xfrm>
            <a:off x="7388200" y="3095000"/>
            <a:ext cx="16012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~21.6%  (5-yr avg., post-2018)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2" name="t552"/>
          <p:cNvSpPr txBox="1"/>
          <p:nvPr/>
        </p:nvSpPr>
        <p:spPr>
          <a:xfrm>
            <a:off x="6078200" y="3380000"/>
            <a:ext cx="13000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Div./Share:</a:t>
            </a:r>
            <a:endParaRPr sz="10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3" name="t553"/>
          <p:cNvSpPr txBox="1"/>
          <p:nvPr/>
        </p:nvSpPr>
        <p:spPr>
          <a:xfrm>
            <a:off x="7388200" y="3380000"/>
            <a:ext cx="16012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$1.28  (g = 13.24%)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4" name="t554"/>
          <p:cNvSpPr txBox="1"/>
          <p:nvPr/>
        </p:nvSpPr>
        <p:spPr>
          <a:xfrm>
            <a:off x="6078200" y="3665000"/>
            <a:ext cx="13000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LT Debt:</a:t>
            </a:r>
            <a:endParaRPr sz="10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5" name="t555"/>
          <p:cNvSpPr txBox="1"/>
          <p:nvPr/>
        </p:nvSpPr>
        <p:spPr>
          <a:xfrm>
            <a:off x="7388200" y="3665000"/>
            <a:ext cx="16012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~$15.8B  (held constant)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" name="t556"/>
          <p:cNvSpPr txBox="1"/>
          <p:nvPr/>
        </p:nvSpPr>
        <p:spPr>
          <a:xfrm>
            <a:off x="6078200" y="3950000"/>
            <a:ext cx="13000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Equity:</a:t>
            </a:r>
            <a:endParaRPr sz="10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7" name="t557"/>
          <p:cNvSpPr txBox="1"/>
          <p:nvPr/>
        </p:nvSpPr>
        <p:spPr>
          <a:xfrm>
            <a:off x="7388200" y="3950000"/>
            <a:ext cx="16012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Prior RE + NI - Dividends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8" name="t558"/>
          <p:cNvSpPr txBox="1"/>
          <p:nvPr/>
        </p:nvSpPr>
        <p:spPr>
          <a:xfrm>
            <a:off x="6078200" y="4235000"/>
            <a:ext cx="13000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Cash Plug:</a:t>
            </a:r>
            <a:endParaRPr sz="10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9" name="t559"/>
          <p:cNvSpPr txBox="1"/>
          <p:nvPr/>
        </p:nvSpPr>
        <p:spPr>
          <a:xfrm>
            <a:off x="7388200" y="4235000"/>
            <a:ext cx="16012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$8.06B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0" name="t560"/>
          <p:cNvSpPr txBox="1"/>
          <p:nvPr/>
        </p:nvSpPr>
        <p:spPr>
          <a:xfrm>
            <a:off x="6078200" y="4520000"/>
            <a:ext cx="13000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Basis:</a:t>
            </a:r>
            <a:endParaRPr sz="10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1" name="t561"/>
          <p:cNvSpPr txBox="1"/>
          <p:nvPr/>
        </p:nvSpPr>
        <p:spPr>
          <a:xfrm>
            <a:off x="7388200" y="4520000"/>
            <a:ext cx="16012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Roboto"/>
                <a:ea typeface="Roboto"/>
                <a:cs typeface="Roboto"/>
                <a:sym typeface="Roboto"/>
              </a:rPr>
              <a:t>Captures post-COVID env.</a:t>
            </a:r>
            <a:endParaRPr sz="115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2" name="t562"/>
          <p:cNvSpPr txBox="1"/>
          <p:nvPr/>
        </p:nvSpPr>
        <p:spPr>
          <a:xfrm>
            <a:off x="6078200" y="4805000"/>
            <a:ext cx="13000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Tax note:</a:t>
            </a:r>
            <a:endParaRPr sz="10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3" name="t563"/>
          <p:cNvSpPr txBox="1"/>
          <p:nvPr/>
        </p:nvSpPr>
        <p:spPr>
          <a:xfrm>
            <a:off x="7388200" y="4805000"/>
            <a:ext cx="16012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Roboto"/>
                <a:ea typeface="Roboto"/>
                <a:cs typeface="Roboto"/>
                <a:sym typeface="Roboto"/>
              </a:rPr>
              <a:t>Pre-2018 excluded (TCJA)</a:t>
            </a:r>
            <a:endParaRPr sz="115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4" name="t564"/>
          <p:cNvSpPr txBox="1"/>
          <p:nvPr/>
        </p:nvSpPr>
        <p:spPr>
          <a:xfrm>
            <a:off x="6078200" y="5090000"/>
            <a:ext cx="13000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Result — ROA/ROE:</a:t>
            </a:r>
            <a:endParaRPr sz="10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5" name="t565"/>
          <p:cNvSpPr txBox="1"/>
          <p:nvPr/>
        </p:nvSpPr>
        <p:spPr>
          <a:xfrm>
            <a:off x="7388200" y="5090000"/>
            <a:ext cx="1601200" cy="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highlight>
                  <a:srgbClr val="FFFF00"/>
                </a:highlight>
                <a:latin typeface="Roboto"/>
                <a:ea typeface="Roboto"/>
                <a:cs typeface="Roboto"/>
                <a:sym typeface="Roboto"/>
              </a:rPr>
              <a:t>5.2%  /  16.2%</a:t>
            </a:r>
            <a:endParaRPr b="1" sz="1400"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89E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/>
        </p:nvSpPr>
        <p:spPr>
          <a:xfrm>
            <a:off x="334300" y="1742775"/>
            <a:ext cx="2727300" cy="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Capital Weights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6172950" y="1742775"/>
            <a:ext cx="2971200" cy="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CDGM &amp; WACC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18"/>
          <p:cNvSpPr txBox="1"/>
          <p:nvPr/>
        </p:nvSpPr>
        <p:spPr>
          <a:xfrm>
            <a:off x="3163488" y="1742775"/>
            <a:ext cx="3043500" cy="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Beta &amp; CAPM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8" name="Google Shape;108;p18"/>
          <p:cNvCxnSpPr/>
          <p:nvPr/>
        </p:nvCxnSpPr>
        <p:spPr>
          <a:xfrm>
            <a:off x="-70500" y="2188200"/>
            <a:ext cx="9291000" cy="22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" name="Google Shape;109;p18"/>
          <p:cNvSpPr txBox="1"/>
          <p:nvPr/>
        </p:nvSpPr>
        <p:spPr>
          <a:xfrm>
            <a:off x="79200" y="2334150"/>
            <a:ext cx="2003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Market Value of Equity</a:t>
            </a:r>
            <a:endParaRPr sz="13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p18"/>
          <p:cNvSpPr txBox="1"/>
          <p:nvPr/>
        </p:nvSpPr>
        <p:spPr>
          <a:xfrm>
            <a:off x="79200" y="3169388"/>
            <a:ext cx="2003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Market Value of Debt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1" name="Google Shape;11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00" y="4124775"/>
            <a:ext cx="2971200" cy="83688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 txBox="1"/>
          <p:nvPr/>
        </p:nvSpPr>
        <p:spPr>
          <a:xfrm>
            <a:off x="334300" y="2721775"/>
            <a:ext cx="29712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highlight>
                  <a:schemeClr val="accent6"/>
                </a:highlight>
                <a:latin typeface="Roboto"/>
                <a:ea typeface="Roboto"/>
                <a:cs typeface="Roboto"/>
                <a:sym typeface="Roboto"/>
              </a:rPr>
              <a:t>$41,832.7M</a:t>
            </a: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 xml:space="preserve">          </a:t>
            </a:r>
            <a:r>
              <a:rPr b="1" lang="en" sz="1800">
                <a:highlight>
                  <a:srgbClr val="00FF00"/>
                </a:highlight>
                <a:latin typeface="Roboto"/>
                <a:ea typeface="Roboto"/>
                <a:cs typeface="Roboto"/>
                <a:sym typeface="Roboto"/>
              </a:rPr>
              <a:t>72.40%</a:t>
            </a:r>
            <a:endParaRPr b="1" sz="1800">
              <a:highlight>
                <a:srgbClr val="00FF00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334300" y="3556213"/>
            <a:ext cx="29712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highlight>
                  <a:schemeClr val="accent6"/>
                </a:highlight>
                <a:latin typeface="Roboto"/>
                <a:ea typeface="Roboto"/>
                <a:cs typeface="Roboto"/>
                <a:sym typeface="Roboto"/>
              </a:rPr>
              <a:t>$15,946.0M</a:t>
            </a: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 xml:space="preserve">          </a:t>
            </a:r>
            <a:r>
              <a:rPr b="1" lang="en" sz="1800">
                <a:highlight>
                  <a:srgbClr val="FF0000"/>
                </a:highlight>
                <a:latin typeface="Roboto"/>
                <a:ea typeface="Roboto"/>
                <a:cs typeface="Roboto"/>
                <a:sym typeface="Roboto"/>
              </a:rPr>
              <a:t>27.60%</a:t>
            </a:r>
            <a:endParaRPr b="1" sz="1800">
              <a:highlight>
                <a:srgbClr val="FF0000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" name="Google Shape;114;p18"/>
          <p:cNvSpPr txBox="1"/>
          <p:nvPr/>
        </p:nvSpPr>
        <p:spPr>
          <a:xfrm>
            <a:off x="212100" y="4324200"/>
            <a:ext cx="27777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Total Firm Value</a:t>
            </a:r>
            <a:r>
              <a:rPr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 xml:space="preserve"> </a:t>
            </a:r>
            <a:r>
              <a:rPr b="1"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$57,7768.7M</a:t>
            </a:r>
            <a:endParaRPr b="1"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18"/>
          <p:cNvSpPr txBox="1"/>
          <p:nvPr/>
        </p:nvSpPr>
        <p:spPr>
          <a:xfrm>
            <a:off x="201400" y="4911500"/>
            <a:ext cx="25464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Source: FactSet, Dec 2024 Year End</a:t>
            </a:r>
            <a:endParaRPr i="1" sz="8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8"/>
          <p:cNvSpPr txBox="1"/>
          <p:nvPr/>
        </p:nvSpPr>
        <p:spPr>
          <a:xfrm>
            <a:off x="3305500" y="2334150"/>
            <a:ext cx="3333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 xml:space="preserve">Method:	</a:t>
            </a:r>
            <a:r>
              <a:rPr b="1" lang="en" sz="1300">
                <a:latin typeface="Roboto"/>
                <a:ea typeface="Roboto"/>
                <a:cs typeface="Roboto"/>
                <a:sym typeface="Roboto"/>
              </a:rPr>
              <a:t>5-yr Monthly (60 obs.)</a:t>
            </a:r>
            <a:endParaRPr b="1"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3305500" y="2731163"/>
            <a:ext cx="2003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 xml:space="preserve">Beta:		</a:t>
            </a:r>
            <a:r>
              <a:rPr b="1" lang="en" sz="1300">
                <a:latin typeface="Roboto"/>
                <a:ea typeface="Roboto"/>
                <a:cs typeface="Roboto"/>
                <a:sym typeface="Roboto"/>
              </a:rPr>
              <a:t>0.469</a:t>
            </a:r>
            <a:endParaRPr b="1"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3305500" y="3556225"/>
            <a:ext cx="2003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 xml:space="preserve">MRP:		</a:t>
            </a:r>
            <a:r>
              <a:rPr b="1" lang="en" sz="1300">
                <a:latin typeface="Roboto"/>
                <a:ea typeface="Roboto"/>
                <a:cs typeface="Roboto"/>
                <a:sym typeface="Roboto"/>
              </a:rPr>
              <a:t>5.50%</a:t>
            </a:r>
            <a:endParaRPr b="1"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3305500" y="3143700"/>
            <a:ext cx="2003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 xml:space="preserve">Rf: 		</a:t>
            </a:r>
            <a:r>
              <a:rPr b="1" lang="en" sz="1300">
                <a:latin typeface="Roboto"/>
                <a:ea typeface="Roboto"/>
                <a:cs typeface="Roboto"/>
                <a:sym typeface="Roboto"/>
              </a:rPr>
              <a:t>4.25%</a:t>
            </a:r>
            <a:endParaRPr b="1" sz="13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0" name="Google Shape;12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5488" y="4124763"/>
            <a:ext cx="2971200" cy="83688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8"/>
          <p:cNvSpPr txBox="1"/>
          <p:nvPr/>
        </p:nvSpPr>
        <p:spPr>
          <a:xfrm>
            <a:off x="3402250" y="4261475"/>
            <a:ext cx="27777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CAPM Cost of Equity</a:t>
            </a:r>
            <a:r>
              <a:rPr b="1"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 xml:space="preserve">    </a:t>
            </a: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6.82%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" name="Google Shape;122;p18"/>
          <p:cNvSpPr txBox="1"/>
          <p:nvPr/>
        </p:nvSpPr>
        <p:spPr>
          <a:xfrm>
            <a:off x="3163500" y="4916900"/>
            <a:ext cx="28230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Sources:   U.S. Treasury, Jan 2025.     Damodaran (2025)</a:t>
            </a:r>
            <a:endParaRPr i="1" sz="8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Google Shape;123;p18"/>
          <p:cNvSpPr txBox="1"/>
          <p:nvPr/>
        </p:nvSpPr>
        <p:spPr>
          <a:xfrm>
            <a:off x="6586375" y="2328475"/>
            <a:ext cx="2003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Dividend Growth Model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p18"/>
          <p:cNvSpPr txBox="1"/>
          <p:nvPr/>
        </p:nvSpPr>
        <p:spPr>
          <a:xfrm>
            <a:off x="6366450" y="2642375"/>
            <a:ext cx="2777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Growth Rate</a:t>
            </a:r>
            <a:r>
              <a:rPr lang="en" sz="13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 xml:space="preserve">:		</a:t>
            </a:r>
            <a:r>
              <a:rPr b="1" lang="en" sz="1300">
                <a:latin typeface="Roboto"/>
                <a:ea typeface="Roboto"/>
                <a:cs typeface="Roboto"/>
                <a:sym typeface="Roboto"/>
              </a:rPr>
              <a:t>6.29%</a:t>
            </a:r>
            <a:endParaRPr b="1"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p18"/>
          <p:cNvSpPr txBox="1"/>
          <p:nvPr/>
        </p:nvSpPr>
        <p:spPr>
          <a:xfrm>
            <a:off x="6366450" y="2950600"/>
            <a:ext cx="2777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D1</a:t>
            </a:r>
            <a:r>
              <a:rPr lang="en" sz="13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 xml:space="preserve">				</a:t>
            </a:r>
            <a:r>
              <a:rPr b="1" lang="en" sz="1300">
                <a:latin typeface="Roboto"/>
                <a:ea typeface="Roboto"/>
                <a:cs typeface="Roboto"/>
                <a:sym typeface="Roboto"/>
              </a:rPr>
              <a:t>$1.28</a:t>
            </a:r>
            <a:endParaRPr b="1"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18"/>
          <p:cNvSpPr txBox="1"/>
          <p:nvPr/>
        </p:nvSpPr>
        <p:spPr>
          <a:xfrm>
            <a:off x="6366450" y="3258825"/>
            <a:ext cx="2777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Stock Price</a:t>
            </a:r>
            <a:r>
              <a:rPr lang="en" sz="13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 xml:space="preserve">			</a:t>
            </a:r>
            <a:r>
              <a:rPr b="1" lang="en" sz="1300">
                <a:latin typeface="Roboto"/>
                <a:ea typeface="Roboto"/>
                <a:cs typeface="Roboto"/>
                <a:sym typeface="Roboto"/>
              </a:rPr>
              <a:t>$61.64</a:t>
            </a:r>
            <a:endParaRPr b="1"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p18"/>
          <p:cNvSpPr txBox="1"/>
          <p:nvPr/>
        </p:nvSpPr>
        <p:spPr>
          <a:xfrm>
            <a:off x="6366450" y="3567050"/>
            <a:ext cx="2777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CDGM Cost of Equity</a:t>
            </a:r>
            <a:r>
              <a:rPr lang="en" sz="13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 xml:space="preserve">	</a:t>
            </a:r>
            <a:r>
              <a:rPr b="1" lang="en" sz="1300">
                <a:latin typeface="Roboto"/>
                <a:ea typeface="Roboto"/>
                <a:cs typeface="Roboto"/>
                <a:sym typeface="Roboto"/>
              </a:rPr>
              <a:t>8.22%</a:t>
            </a:r>
            <a:endParaRPr b="1"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p18"/>
          <p:cNvSpPr txBox="1"/>
          <p:nvPr/>
        </p:nvSpPr>
        <p:spPr>
          <a:xfrm>
            <a:off x="6586375" y="3875275"/>
            <a:ext cx="2003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rgbClr val="FFFF00"/>
                </a:highlight>
                <a:latin typeface="Roboto"/>
                <a:ea typeface="Roboto"/>
                <a:cs typeface="Roboto"/>
                <a:sym typeface="Roboto"/>
              </a:rPr>
              <a:t>WACC Calculation</a:t>
            </a:r>
            <a:endParaRPr b="1" sz="1200"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18"/>
          <p:cNvSpPr txBox="1"/>
          <p:nvPr/>
        </p:nvSpPr>
        <p:spPr>
          <a:xfrm>
            <a:off x="6366450" y="4124775"/>
            <a:ext cx="2777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We x Re</a:t>
            </a:r>
            <a:r>
              <a:rPr lang="en"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 xml:space="preserve">			</a:t>
            </a: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4.94%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" name="Google Shape;130;p18"/>
          <p:cNvSpPr txBox="1"/>
          <p:nvPr/>
        </p:nvSpPr>
        <p:spPr>
          <a:xfrm>
            <a:off x="6366450" y="4374275"/>
            <a:ext cx="2777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 xml:space="preserve">Wd x Rd x (1-T)		</a:t>
            </a: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1.20%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6366450" y="4682500"/>
            <a:ext cx="2777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FFFF00"/>
                </a:highlight>
                <a:latin typeface="Roboto"/>
                <a:ea typeface="Roboto"/>
                <a:cs typeface="Roboto"/>
                <a:sym typeface="Roboto"/>
              </a:rPr>
              <a:t>WACC</a:t>
            </a:r>
            <a:r>
              <a:rPr b="1" lang="en" sz="1600">
                <a:highlight>
                  <a:srgbClr val="FFFF00"/>
                </a:highlight>
                <a:latin typeface="Roboto"/>
                <a:ea typeface="Roboto"/>
                <a:cs typeface="Roboto"/>
                <a:sym typeface="Roboto"/>
              </a:rPr>
              <a:t xml:space="preserve">	</a:t>
            </a:r>
            <a:r>
              <a:rPr lang="en">
                <a:solidFill>
                  <a:srgbClr val="434343"/>
                </a:solidFill>
                <a:highlight>
                  <a:srgbClr val="FFFF00"/>
                </a:highlight>
                <a:latin typeface="Roboto"/>
                <a:ea typeface="Roboto"/>
                <a:cs typeface="Roboto"/>
                <a:sym typeface="Roboto"/>
              </a:rPr>
              <a:t xml:space="preserve">		</a:t>
            </a:r>
            <a:r>
              <a:rPr b="1" lang="en">
                <a:highlight>
                  <a:srgbClr val="FFFF00"/>
                </a:highlight>
                <a:latin typeface="Roboto"/>
                <a:ea typeface="Roboto"/>
                <a:cs typeface="Roboto"/>
                <a:sym typeface="Roboto"/>
              </a:rPr>
              <a:t>6.14%</a:t>
            </a:r>
            <a:endParaRPr b="1"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Google Shape;132;p18"/>
          <p:cNvSpPr txBox="1"/>
          <p:nvPr/>
        </p:nvSpPr>
        <p:spPr>
          <a:xfrm>
            <a:off x="1772275" y="528075"/>
            <a:ext cx="68172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2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V.                </a:t>
            </a:r>
            <a:r>
              <a:rPr b="1" lang="en" sz="2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Capital Structure and Cost of Capital</a:t>
            </a:r>
            <a:endParaRPr sz="2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89E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9" title="kroger_blue_tex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9600" y="4169225"/>
            <a:ext cx="1327100" cy="132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9"/>
          <p:cNvSpPr txBox="1"/>
          <p:nvPr/>
        </p:nvSpPr>
        <p:spPr>
          <a:xfrm>
            <a:off x="1728775" y="597925"/>
            <a:ext cx="67731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2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VI. </a:t>
            </a:r>
            <a:r>
              <a:rPr b="1" lang="en" sz="2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Capital Structure and Debt-to-Equity Trend</a:t>
            </a:r>
            <a:endParaRPr sz="2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9" name="Google Shape;13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796875"/>
            <a:ext cx="4860801" cy="321245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9"/>
          <p:cNvSpPr txBox="1"/>
          <p:nvPr/>
        </p:nvSpPr>
        <p:spPr>
          <a:xfrm>
            <a:off x="4916575" y="1698850"/>
            <a:ext cx="4104000" cy="32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Roboto"/>
                <a:ea typeface="Roboto"/>
                <a:cs typeface="Roboto"/>
                <a:sym typeface="Roboto"/>
              </a:rPr>
              <a:t xml:space="preserve">Theory Comparison </a:t>
            </a:r>
            <a:endParaRPr b="1"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Trade-Off Theory: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-3175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-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Firms target optimal D/E ratio, balancing tax benefits vs. distress costs. Kroger shows no clear target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Pecking Order Hypothesis: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-3175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-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Internal cash flow first, then debt, then equity. Kroger avoids equity issuance, relies on debt for acquisitions/Capex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89E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/>
          <p:nvPr/>
        </p:nvSpPr>
        <p:spPr>
          <a:xfrm>
            <a:off x="1742800" y="603175"/>
            <a:ext cx="67731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2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VII.  </a:t>
            </a:r>
            <a:r>
              <a:rPr b="1" lang="en" sz="2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           Payout Policy</a:t>
            </a:r>
            <a:endParaRPr sz="2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20"/>
          <p:cNvSpPr txBox="1"/>
          <p:nvPr/>
        </p:nvSpPr>
        <p:spPr>
          <a:xfrm>
            <a:off x="170850" y="1701875"/>
            <a:ext cx="28602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Roboto"/>
                <a:ea typeface="Roboto"/>
                <a:cs typeface="Roboto"/>
                <a:sym typeface="Roboto"/>
              </a:rPr>
              <a:t>Historical Rates (2017-2024)</a:t>
            </a:r>
            <a:endParaRPr b="1"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0"/>
          <p:cNvSpPr txBox="1"/>
          <p:nvPr/>
        </p:nvSpPr>
        <p:spPr>
          <a:xfrm>
            <a:off x="6102325" y="1681075"/>
            <a:ext cx="2971200" cy="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Roboto"/>
                <a:ea typeface="Roboto"/>
                <a:cs typeface="Roboto"/>
                <a:sym typeface="Roboto"/>
              </a:rPr>
              <a:t>CFO Recommendation</a:t>
            </a:r>
            <a:endParaRPr b="1"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20"/>
          <p:cNvSpPr txBox="1"/>
          <p:nvPr/>
        </p:nvSpPr>
        <p:spPr>
          <a:xfrm>
            <a:off x="3269338" y="1681075"/>
            <a:ext cx="3043500" cy="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Roboto"/>
                <a:ea typeface="Roboto"/>
                <a:cs typeface="Roboto"/>
                <a:sym typeface="Roboto"/>
              </a:rPr>
              <a:t>Implicit Policy: Hybrid</a:t>
            </a:r>
            <a:endParaRPr b="1" sz="16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9" name="Google Shape;149;p20"/>
          <p:cNvCxnSpPr/>
          <p:nvPr/>
        </p:nvCxnSpPr>
        <p:spPr>
          <a:xfrm>
            <a:off x="-73500" y="2160263"/>
            <a:ext cx="9291000" cy="22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" name="Google Shape;150;p20"/>
          <p:cNvSpPr txBox="1"/>
          <p:nvPr/>
        </p:nvSpPr>
        <p:spPr>
          <a:xfrm>
            <a:off x="79200" y="2334150"/>
            <a:ext cx="2003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Dividend Growth Rate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" name="Google Shape;151;p20"/>
          <p:cNvSpPr txBox="1"/>
          <p:nvPr/>
        </p:nvSpPr>
        <p:spPr>
          <a:xfrm>
            <a:off x="79200" y="3018825"/>
            <a:ext cx="2003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Avg. Annual Repurches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20"/>
          <p:cNvSpPr txBox="1"/>
          <p:nvPr/>
        </p:nvSpPr>
        <p:spPr>
          <a:xfrm>
            <a:off x="79200" y="3696975"/>
            <a:ext cx="2003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Repurchase Range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p20"/>
          <p:cNvSpPr txBox="1"/>
          <p:nvPr/>
        </p:nvSpPr>
        <p:spPr>
          <a:xfrm>
            <a:off x="79200" y="4371875"/>
            <a:ext cx="2003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FCF Range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20"/>
          <p:cNvSpPr txBox="1"/>
          <p:nvPr/>
        </p:nvSpPr>
        <p:spPr>
          <a:xfrm>
            <a:off x="672350" y="2620775"/>
            <a:ext cx="21993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13.24%</a:t>
            </a: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 xml:space="preserve"> </a:t>
            </a:r>
            <a:r>
              <a:rPr i="1" lang="en" sz="1100">
                <a:latin typeface="Roboto"/>
                <a:ea typeface="Roboto"/>
                <a:cs typeface="Roboto"/>
                <a:sym typeface="Roboto"/>
              </a:rPr>
              <a:t>per share, annually</a:t>
            </a:r>
            <a:endParaRPr i="1"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p20"/>
          <p:cNvSpPr txBox="1"/>
          <p:nvPr/>
        </p:nvSpPr>
        <p:spPr>
          <a:xfrm>
            <a:off x="672350" y="3281775"/>
            <a:ext cx="21993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~1,345M</a:t>
            </a: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 xml:space="preserve"> </a:t>
            </a:r>
            <a:r>
              <a:rPr i="1" lang="en" sz="1100">
                <a:latin typeface="Roboto"/>
                <a:ea typeface="Roboto"/>
                <a:cs typeface="Roboto"/>
                <a:sym typeface="Roboto"/>
              </a:rPr>
              <a:t>excl. 2024 outlier</a:t>
            </a:r>
            <a:endParaRPr i="1"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20"/>
          <p:cNvSpPr txBox="1"/>
          <p:nvPr/>
        </p:nvSpPr>
        <p:spPr>
          <a:xfrm>
            <a:off x="672350" y="3942775"/>
            <a:ext cx="21993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$60M - $2.0B</a:t>
            </a:r>
            <a:endParaRPr i="1"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20"/>
          <p:cNvSpPr txBox="1"/>
          <p:nvPr/>
        </p:nvSpPr>
        <p:spPr>
          <a:xfrm>
            <a:off x="672350" y="4603775"/>
            <a:ext cx="21993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$1.5B - $3.8B</a:t>
            </a:r>
            <a:endParaRPr i="1"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20"/>
          <p:cNvSpPr txBox="1"/>
          <p:nvPr/>
        </p:nvSpPr>
        <p:spPr>
          <a:xfrm>
            <a:off x="3102750" y="2334150"/>
            <a:ext cx="30435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Roboto"/>
                <a:ea typeface="Roboto"/>
                <a:cs typeface="Roboto"/>
                <a:sym typeface="Roboto"/>
              </a:rPr>
              <a:t>Dividends</a:t>
            </a:r>
            <a:endParaRPr b="1"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Stable &amp; committed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Grew every year 2017-2024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Signals long-term commitment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Roboto"/>
                <a:ea typeface="Roboto"/>
                <a:cs typeface="Roboto"/>
                <a:sym typeface="Roboto"/>
              </a:rPr>
              <a:t>Repurchases</a:t>
            </a:r>
            <a:endParaRPr b="1"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Highly discretionary &amp; volatile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Dropped to $60M in 2024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Flexible lever, non committal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20"/>
          <p:cNvSpPr txBox="1"/>
          <p:nvPr/>
        </p:nvSpPr>
        <p:spPr>
          <a:xfrm>
            <a:off x="6066175" y="2190475"/>
            <a:ext cx="30435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Maintain Dividend Growth (</a:t>
            </a:r>
            <a:r>
              <a:rPr b="1" lang="en" sz="1200">
                <a:highlight>
                  <a:srgbClr val="FFFF00"/>
                </a:highlight>
                <a:latin typeface="Roboto"/>
                <a:ea typeface="Roboto"/>
                <a:cs typeface="Roboto"/>
                <a:sym typeface="Roboto"/>
              </a:rPr>
              <a:t>~13%</a:t>
            </a: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)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-"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Consistent with historical growth &amp; shareholder expectations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Flexible Repurchases (</a:t>
            </a:r>
            <a:r>
              <a:rPr b="1" lang="en" sz="1200">
                <a:highlight>
                  <a:srgbClr val="FFFF00"/>
                </a:highlight>
                <a:latin typeface="Roboto"/>
                <a:ea typeface="Roboto"/>
                <a:cs typeface="Roboto"/>
                <a:sym typeface="Roboto"/>
              </a:rPr>
              <a:t>$1B - $2B</a:t>
            </a: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)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-"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Preserve flexibility post-Albertsons merger failure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highlight>
                  <a:srgbClr val="FFFF00"/>
                </a:highlight>
                <a:latin typeface="Roboto"/>
                <a:ea typeface="Roboto"/>
                <a:cs typeface="Roboto"/>
                <a:sym typeface="Roboto"/>
              </a:rPr>
              <a:t>Rationale</a:t>
            </a:r>
            <a:endParaRPr b="1" sz="1300"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Strong FCF supports both commitments. Prioritize financial flexibility while ongoing digital &amp; supply chain investments continue while rewarding shareholders.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89E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logo" title="kroger_blue_tex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3475" y="3692975"/>
            <a:ext cx="1450525" cy="145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hdr"/>
          <p:cNvSpPr txBox="1"/>
          <p:nvPr/>
        </p:nvSpPr>
        <p:spPr>
          <a:xfrm>
            <a:off x="1742800" y="603175"/>
            <a:ext cx="67731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2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VII.      </a:t>
            </a:r>
            <a:r>
              <a:rPr b="1" lang="en" sz="2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Firm Valuation</a:t>
            </a:r>
            <a:endParaRPr sz="2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01" name="l701"/>
          <p:cNvCxnSpPr/>
          <p:nvPr/>
        </p:nvCxnSpPr>
        <p:spPr>
          <a:xfrm>
            <a:off x="-73500" y="2160263"/>
            <a:ext cx="9291000" cy="22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2" name="t702"/>
          <p:cNvSpPr txBox="1"/>
          <p:nvPr/>
        </p:nvSpPr>
        <p:spPr>
          <a:xfrm>
            <a:off x="79200" y="2200000"/>
            <a:ext cx="29271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Roboto"/>
                <a:ea typeface="Roboto"/>
                <a:cs typeface="Roboto"/>
                <a:sym typeface="Roboto"/>
              </a:rPr>
              <a:t>DDM  &amp;  Total Payout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3" name="t703"/>
          <p:cNvSpPr txBox="1"/>
          <p:nvPr/>
        </p:nvSpPr>
        <p:spPr>
          <a:xfrm>
            <a:off x="3086700" y="2200000"/>
            <a:ext cx="29712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Roboto"/>
                <a:ea typeface="Roboto"/>
                <a:cs typeface="Roboto"/>
                <a:sym typeface="Roboto"/>
              </a:rPr>
              <a:t>DCF Model  (Preferred)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4" name="t704"/>
          <p:cNvSpPr txBox="1"/>
          <p:nvPr/>
        </p:nvSpPr>
        <p:spPr>
          <a:xfrm>
            <a:off x="6058200" y="2200000"/>
            <a:ext cx="29712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Roboto"/>
                <a:ea typeface="Roboto"/>
                <a:cs typeface="Roboto"/>
                <a:sym typeface="Roboto"/>
              </a:rPr>
              <a:t>Comparable Multiples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05" name="l705"/>
          <p:cNvCxnSpPr/>
          <p:nvPr/>
        </p:nvCxnSpPr>
        <p:spPr>
          <a:xfrm>
            <a:off x="-73500" y="2500000"/>
            <a:ext cx="9291000" cy="22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6" name="t706"/>
          <p:cNvSpPr txBox="1"/>
          <p:nvPr/>
        </p:nvSpPr>
        <p:spPr>
          <a:xfrm>
            <a:off x="79200" y="2540000"/>
            <a:ext cx="29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003380"/>
                </a:solidFill>
                <a:latin typeface="Roboto"/>
                <a:ea typeface="Roboto"/>
                <a:cs typeface="Roboto"/>
                <a:sym typeface="Roboto"/>
              </a:rPr>
              <a:t>Dividend Discount Model (DDM)</a:t>
            </a:r>
            <a:endParaRPr b="1" sz="1350">
              <a:solidFill>
                <a:srgbClr val="0033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7" name="t707"/>
          <p:cNvSpPr txBox="1"/>
          <p:nvPr/>
        </p:nvSpPr>
        <p:spPr>
          <a:xfrm>
            <a:off x="79200" y="2830000"/>
            <a:ext cx="1400000" cy="2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Const. Growth Rate (g):</a:t>
            </a:r>
            <a:endParaRPr sz="11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8" name="t708"/>
          <p:cNvSpPr txBox="1"/>
          <p:nvPr/>
        </p:nvSpPr>
        <p:spPr>
          <a:xfrm>
            <a:off x="1490000" y="2830000"/>
            <a:ext cx="1510000" cy="2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6.29%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9" name="t709"/>
          <p:cNvSpPr txBox="1"/>
          <p:nvPr/>
        </p:nvSpPr>
        <p:spPr>
          <a:xfrm>
            <a:off x="79200" y="3080000"/>
            <a:ext cx="1400000" cy="2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CDGM Cost of Equity (Ke):</a:t>
            </a:r>
            <a:endParaRPr sz="11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0" name="t710"/>
          <p:cNvSpPr txBox="1"/>
          <p:nvPr/>
        </p:nvSpPr>
        <p:spPr>
          <a:xfrm>
            <a:off x="1490000" y="3080000"/>
            <a:ext cx="1510000" cy="2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8.22%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1" name="t711"/>
          <p:cNvSpPr txBox="1"/>
          <p:nvPr/>
        </p:nvSpPr>
        <p:spPr>
          <a:xfrm>
            <a:off x="79200" y="3330000"/>
            <a:ext cx="1400000" cy="2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D1 (next yr. dividend):</a:t>
            </a:r>
            <a:endParaRPr sz="11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2" name="t712"/>
          <p:cNvSpPr txBox="1"/>
          <p:nvPr/>
        </p:nvSpPr>
        <p:spPr>
          <a:xfrm>
            <a:off x="1490000" y="3330000"/>
            <a:ext cx="1510000" cy="2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$1.28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3" name="t713"/>
          <p:cNvSpPr txBox="1"/>
          <p:nvPr/>
        </p:nvSpPr>
        <p:spPr>
          <a:xfrm>
            <a:off x="79200" y="3580000"/>
            <a:ext cx="1400000" cy="2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Implied Stock Price:</a:t>
            </a:r>
            <a:endParaRPr sz="11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4" name="t714"/>
          <p:cNvSpPr txBox="1"/>
          <p:nvPr/>
        </p:nvSpPr>
        <p:spPr>
          <a:xfrm>
            <a:off x="1490000" y="3580000"/>
            <a:ext cx="1510000" cy="2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highlight>
                  <a:srgbClr val="FFFF00"/>
                </a:highlight>
                <a:latin typeface="Roboto"/>
                <a:ea typeface="Roboto"/>
                <a:cs typeface="Roboto"/>
                <a:sym typeface="Roboto"/>
              </a:rPr>
              <a:t>$61.94</a:t>
            </a:r>
            <a:endParaRPr b="1" sz="1400"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15" name="l715"/>
          <p:cNvCxnSpPr/>
          <p:nvPr/>
        </p:nvCxnSpPr>
        <p:spPr>
          <a:xfrm>
            <a:off x="79200" y="3890000"/>
            <a:ext cx="2800000" cy="22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6" name="t716"/>
          <p:cNvSpPr txBox="1"/>
          <p:nvPr/>
        </p:nvSpPr>
        <p:spPr>
          <a:xfrm>
            <a:off x="79200" y="3940000"/>
            <a:ext cx="29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003380"/>
                </a:solidFill>
                <a:latin typeface="Roboto"/>
                <a:ea typeface="Roboto"/>
                <a:cs typeface="Roboto"/>
                <a:sym typeface="Roboto"/>
              </a:rPr>
              <a:t>Total Payout Model</a:t>
            </a:r>
            <a:endParaRPr b="1" sz="1350">
              <a:solidFill>
                <a:srgbClr val="0033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7" name="t717"/>
          <p:cNvSpPr txBox="1"/>
          <p:nvPr/>
        </p:nvSpPr>
        <p:spPr>
          <a:xfrm>
            <a:off x="79200" y="4230000"/>
            <a:ext cx="1400000" cy="2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Forecasted Dividends:</a:t>
            </a:r>
            <a:endParaRPr sz="11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8" name="t718"/>
          <p:cNvSpPr txBox="1"/>
          <p:nvPr/>
        </p:nvSpPr>
        <p:spPr>
          <a:xfrm>
            <a:off x="1490000" y="4230000"/>
            <a:ext cx="1510000" cy="2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$753.5M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9" name="t719"/>
          <p:cNvSpPr txBox="1"/>
          <p:nvPr/>
        </p:nvSpPr>
        <p:spPr>
          <a:xfrm>
            <a:off x="79200" y="4480000"/>
            <a:ext cx="1400000" cy="2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Avg. Repurchases:</a:t>
            </a:r>
            <a:endParaRPr sz="11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0" name="t720"/>
          <p:cNvSpPr txBox="1"/>
          <p:nvPr/>
        </p:nvSpPr>
        <p:spPr>
          <a:xfrm>
            <a:off x="1490000" y="4480000"/>
            <a:ext cx="1510000" cy="2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$1,345M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1" name="t721"/>
          <p:cNvSpPr txBox="1"/>
          <p:nvPr/>
        </p:nvSpPr>
        <p:spPr>
          <a:xfrm>
            <a:off x="79200" y="4730000"/>
            <a:ext cx="1400000" cy="2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Shares Outstanding:</a:t>
            </a:r>
            <a:endParaRPr sz="11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2" name="t722"/>
          <p:cNvSpPr txBox="1"/>
          <p:nvPr/>
        </p:nvSpPr>
        <p:spPr>
          <a:xfrm>
            <a:off x="1490000" y="4730000"/>
            <a:ext cx="1510000" cy="2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660M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3" name="t723"/>
          <p:cNvSpPr txBox="1"/>
          <p:nvPr/>
        </p:nvSpPr>
        <p:spPr>
          <a:xfrm>
            <a:off x="79200" y="4980000"/>
            <a:ext cx="1400000" cy="2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Implied Stock Price:</a:t>
            </a:r>
            <a:endParaRPr sz="11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4" name="t724"/>
          <p:cNvSpPr txBox="1"/>
          <p:nvPr/>
        </p:nvSpPr>
        <p:spPr>
          <a:xfrm>
            <a:off x="1490000" y="4980000"/>
            <a:ext cx="1510000" cy="2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highlight>
                  <a:srgbClr val="FFFF00"/>
                </a:highlight>
                <a:latin typeface="Roboto"/>
                <a:ea typeface="Roboto"/>
                <a:cs typeface="Roboto"/>
                <a:sym typeface="Roboto"/>
              </a:rPr>
              <a:t>$63.28</a:t>
            </a:r>
            <a:endParaRPr b="1" sz="1400"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5" name="t725"/>
          <p:cNvSpPr txBox="1"/>
          <p:nvPr/>
        </p:nvSpPr>
        <p:spPr>
          <a:xfrm>
            <a:off x="3086700" y="2540000"/>
            <a:ext cx="29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003380"/>
                </a:solidFill>
                <a:latin typeface="Roboto"/>
                <a:ea typeface="Roboto"/>
                <a:cs typeface="Roboto"/>
                <a:sym typeface="Roboto"/>
              </a:rPr>
              <a:t>Discounted Cash Flow (DCF)</a:t>
            </a:r>
            <a:endParaRPr b="1" sz="1350">
              <a:solidFill>
                <a:srgbClr val="0033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6" name="t726"/>
          <p:cNvSpPr txBox="1"/>
          <p:nvPr/>
        </p:nvSpPr>
        <p:spPr>
          <a:xfrm>
            <a:off x="3086700" y="2830000"/>
            <a:ext cx="1400000" cy="2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WACC:</a:t>
            </a:r>
            <a:endParaRPr sz="11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7" name="t727"/>
          <p:cNvSpPr txBox="1"/>
          <p:nvPr/>
        </p:nvSpPr>
        <p:spPr>
          <a:xfrm>
            <a:off x="4490000" y="2830000"/>
            <a:ext cx="1570000" cy="2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6.14%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8" name="t728"/>
          <p:cNvSpPr txBox="1"/>
          <p:nvPr/>
        </p:nvSpPr>
        <p:spPr>
          <a:xfrm>
            <a:off x="3086700" y="3080000"/>
            <a:ext cx="1400000" cy="2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Terminal Growth Rate:</a:t>
            </a:r>
            <a:endParaRPr sz="11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9" name="t729"/>
          <p:cNvSpPr txBox="1"/>
          <p:nvPr/>
        </p:nvSpPr>
        <p:spPr>
          <a:xfrm>
            <a:off x="4490000" y="3080000"/>
            <a:ext cx="1570000" cy="2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2.5%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0" name="t730"/>
          <p:cNvSpPr txBox="1"/>
          <p:nvPr/>
        </p:nvSpPr>
        <p:spPr>
          <a:xfrm>
            <a:off x="3086700" y="3330000"/>
            <a:ext cx="1400000" cy="2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Forecast Period:</a:t>
            </a:r>
            <a:endParaRPr sz="11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1" name="t731"/>
          <p:cNvSpPr txBox="1"/>
          <p:nvPr/>
        </p:nvSpPr>
        <p:spPr>
          <a:xfrm>
            <a:off x="4490000" y="3330000"/>
            <a:ext cx="1570000" cy="2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5-year FCF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2" name="t732"/>
          <p:cNvSpPr txBox="1"/>
          <p:nvPr/>
        </p:nvSpPr>
        <p:spPr>
          <a:xfrm>
            <a:off x="3086700" y="3580000"/>
            <a:ext cx="1400000" cy="2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Implied Stock Price:</a:t>
            </a:r>
            <a:endParaRPr sz="1100">
              <a:solidFill>
                <a:srgbClr val="5555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3" name="t733"/>
          <p:cNvSpPr txBox="1"/>
          <p:nvPr/>
        </p:nvSpPr>
        <p:spPr>
          <a:xfrm>
            <a:off x="4490000" y="3580000"/>
            <a:ext cx="1570000" cy="2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highlight>
                  <a:srgbClr val="FFFF00"/>
                </a:highlight>
                <a:latin typeface="Roboto"/>
                <a:ea typeface="Roboto"/>
                <a:cs typeface="Roboto"/>
                <a:sym typeface="Roboto"/>
              </a:rPr>
              <a:t>$78.94</a:t>
            </a:r>
            <a:endParaRPr b="1" sz="1500"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34" name="l734"/>
          <p:cNvCxnSpPr/>
          <p:nvPr/>
        </p:nvCxnSpPr>
        <p:spPr>
          <a:xfrm>
            <a:off x="3086700" y="3890000"/>
            <a:ext cx="2800000" cy="22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5" name="t735"/>
          <p:cNvSpPr txBox="1"/>
          <p:nvPr/>
        </p:nvSpPr>
        <p:spPr>
          <a:xfrm>
            <a:off x="3086700" y="3940000"/>
            <a:ext cx="29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6400"/>
                </a:solidFill>
                <a:latin typeface="Roboto"/>
                <a:ea typeface="Roboto"/>
                <a:cs typeface="Roboto"/>
                <a:sym typeface="Roboto"/>
              </a:rPr>
              <a:t>Why DCF is Most Trusted</a:t>
            </a:r>
            <a:endParaRPr b="1" sz="1300">
              <a:solidFill>
                <a:srgbClr val="0064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6" name="t736"/>
          <p:cNvSpPr txBox="1"/>
          <p:nvPr/>
        </p:nvSpPr>
        <p:spPr>
          <a:xfrm>
            <a:off x="3086700" y="4230000"/>
            <a:ext cx="2900000" cy="2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- Grounded in Kroger's actual cash flows</a:t>
            </a:r>
            <a:endParaRPr sz="11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7" name="t737"/>
          <p:cNvSpPr txBox="1"/>
          <p:nvPr/>
        </p:nvSpPr>
        <p:spPr>
          <a:xfrm>
            <a:off x="3086700" y="4460000"/>
            <a:ext cx="2900000" cy="2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- Less sensitive to single assumptions</a:t>
            </a:r>
            <a:endParaRPr sz="11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8" name="t738"/>
          <p:cNvSpPr txBox="1"/>
          <p:nvPr/>
        </p:nvSpPr>
        <p:spPr>
          <a:xfrm>
            <a:off x="3086700" y="4690000"/>
            <a:ext cx="2900000" cy="2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- Terminal growth 2.5% reflects stable, mature grocery industry</a:t>
            </a:r>
            <a:endParaRPr sz="11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9" name="t739"/>
          <p:cNvSpPr txBox="1"/>
          <p:nvPr/>
        </p:nvSpPr>
        <p:spPr>
          <a:xfrm>
            <a:off x="3086700" y="4920000"/>
            <a:ext cx="2900000" cy="2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- Not distorted by peer model differences</a:t>
            </a:r>
            <a:endParaRPr sz="11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0" name="t740"/>
          <p:cNvSpPr txBox="1"/>
          <p:nvPr/>
        </p:nvSpPr>
        <p:spPr>
          <a:xfrm>
            <a:off x="3086700" y="5150000"/>
            <a:ext cx="2900000" cy="2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- Beta is most influential input — drives cost of equity &amp; WACC weight</a:t>
            </a:r>
            <a:endParaRPr sz="11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1" name="t741"/>
          <p:cNvSpPr txBox="1"/>
          <p:nvPr/>
        </p:nvSpPr>
        <p:spPr>
          <a:xfrm>
            <a:off x="6058200" y="2540000"/>
            <a:ext cx="29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3380"/>
                </a:solidFill>
                <a:latin typeface="Roboto"/>
                <a:ea typeface="Roboto"/>
                <a:cs typeface="Roboto"/>
                <a:sym typeface="Roboto"/>
              </a:rPr>
              <a:t>Peers: Walmart, Target, Albertsons</a:t>
            </a:r>
            <a:endParaRPr b="1" sz="1250">
              <a:solidFill>
                <a:srgbClr val="0033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2" name="t742"/>
          <p:cNvSpPr txBox="1"/>
          <p:nvPr/>
        </p:nvSpPr>
        <p:spPr>
          <a:xfrm>
            <a:off x="6058200" y="2805000"/>
            <a:ext cx="29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5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(Costco excluded — membership model distorts multiples)</a:t>
            </a:r>
            <a:endParaRPr sz="105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3" name="b743"/>
          <p:cNvSpPr>
            <a:spLocks noTextEdit="1"/>
          </p:cNvSpPr>
          <p:nvPr/>
        </p:nvSpPr>
        <p:spPr>
          <a:xfrm>
            <a:off x="6058200" y="3020000"/>
            <a:ext cx="2900000" cy="230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txBody>
          <a:bodyPr/>
          <a:lstStyle/>
        </p:txBody>
      </p:sp>
      <p:sp>
        <p:nvSpPr>
          <p:cNvPr id="744" name="t744"/>
          <p:cNvSpPr txBox="1"/>
          <p:nvPr/>
        </p:nvSpPr>
        <p:spPr>
          <a:xfrm>
            <a:off x="6078200" y="3060000"/>
            <a:ext cx="65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Peer</a:t>
            </a:r>
            <a:endParaRPr b="1" sz="105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5" name="t745"/>
          <p:cNvSpPr txBox="1"/>
          <p:nvPr/>
        </p:nvSpPr>
        <p:spPr>
          <a:xfrm>
            <a:off x="6778200" y="3060000"/>
            <a:ext cx="40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P/S</a:t>
            </a:r>
            <a:endParaRPr b="1" sz="105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6" name="t746"/>
          <p:cNvSpPr txBox="1"/>
          <p:nvPr/>
        </p:nvSpPr>
        <p:spPr>
          <a:xfrm>
            <a:off x="7228200" y="3060000"/>
            <a:ext cx="50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P/E</a:t>
            </a:r>
            <a:endParaRPr b="1" sz="105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7" name="t747"/>
          <p:cNvSpPr txBox="1"/>
          <p:nvPr/>
        </p:nvSpPr>
        <p:spPr>
          <a:xfrm>
            <a:off x="7778200" y="3060000"/>
            <a:ext cx="57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EV/EBIT</a:t>
            </a:r>
            <a:endParaRPr b="1" sz="105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8" name="b748"/>
          <p:cNvSpPr>
            <a:spLocks noTextEdit="1"/>
          </p:cNvSpPr>
          <p:nvPr/>
        </p:nvSpPr>
        <p:spPr>
          <a:xfrm>
            <a:off x="6058200" y="3260000"/>
            <a:ext cx="2900000" cy="215000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txBody>
          <a:bodyPr/>
          <a:lstStyle/>
        </p:txBody>
      </p:sp>
      <p:sp>
        <p:nvSpPr>
          <p:cNvPr id="749" name="t749"/>
          <p:cNvSpPr txBox="1"/>
          <p:nvPr/>
        </p:nvSpPr>
        <p:spPr>
          <a:xfrm>
            <a:off x="6078200" y="3300000"/>
            <a:ext cx="65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Walmart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0" name="t750"/>
          <p:cNvSpPr txBox="1"/>
          <p:nvPr/>
        </p:nvSpPr>
        <p:spPr>
          <a:xfrm>
            <a:off x="6778200" y="3300000"/>
            <a:ext cx="40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1.54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1" name="t751"/>
          <p:cNvSpPr txBox="1"/>
          <p:nvPr/>
        </p:nvSpPr>
        <p:spPr>
          <a:xfrm>
            <a:off x="7228200" y="3300000"/>
            <a:ext cx="50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48.22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2" name="t752"/>
          <p:cNvSpPr txBox="1"/>
          <p:nvPr/>
        </p:nvSpPr>
        <p:spPr>
          <a:xfrm>
            <a:off x="7778200" y="3300000"/>
            <a:ext cx="57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36.77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3" name="b753"/>
          <p:cNvSpPr>
            <a:spLocks noTextEdit="1"/>
          </p:cNvSpPr>
          <p:nvPr/>
        </p:nvSpPr>
        <p:spPr>
          <a:xfrm>
            <a:off x="6058200" y="3495000"/>
            <a:ext cx="2900000" cy="215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/>
          <a:lstStyle/>
        </p:txBody>
      </p:sp>
      <p:sp>
        <p:nvSpPr>
          <p:cNvPr id="754" name="t754"/>
          <p:cNvSpPr txBox="1"/>
          <p:nvPr/>
        </p:nvSpPr>
        <p:spPr>
          <a:xfrm>
            <a:off x="6078200" y="3535000"/>
            <a:ext cx="65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Target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5" name="t755"/>
          <p:cNvSpPr txBox="1"/>
          <p:nvPr/>
        </p:nvSpPr>
        <p:spPr>
          <a:xfrm>
            <a:off x="6778200" y="3535000"/>
            <a:ext cx="40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0.67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6" name="t756"/>
          <p:cNvSpPr txBox="1"/>
          <p:nvPr/>
        </p:nvSpPr>
        <p:spPr>
          <a:xfrm>
            <a:off x="7228200" y="3535000"/>
            <a:ext cx="50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15.85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7" name="t757"/>
          <p:cNvSpPr txBox="1"/>
          <p:nvPr/>
        </p:nvSpPr>
        <p:spPr>
          <a:xfrm>
            <a:off x="7778200" y="3535000"/>
            <a:ext cx="57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14.56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8" name="b758"/>
          <p:cNvSpPr>
            <a:spLocks noTextEdit="1"/>
          </p:cNvSpPr>
          <p:nvPr/>
        </p:nvSpPr>
        <p:spPr>
          <a:xfrm>
            <a:off x="6058200" y="3730000"/>
            <a:ext cx="2900000" cy="215000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txBody>
          <a:bodyPr/>
          <a:lstStyle/>
        </p:txBody>
      </p:sp>
      <p:sp>
        <p:nvSpPr>
          <p:cNvPr id="759" name="t759"/>
          <p:cNvSpPr txBox="1"/>
          <p:nvPr/>
        </p:nvSpPr>
        <p:spPr>
          <a:xfrm>
            <a:off x="6078200" y="3770000"/>
            <a:ext cx="65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Albertsons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0" name="t760"/>
          <p:cNvSpPr txBox="1"/>
          <p:nvPr/>
        </p:nvSpPr>
        <p:spPr>
          <a:xfrm>
            <a:off x="6778200" y="3770000"/>
            <a:ext cx="40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0.20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1" name="t761"/>
          <p:cNvSpPr txBox="1"/>
          <p:nvPr/>
        </p:nvSpPr>
        <p:spPr>
          <a:xfrm>
            <a:off x="7228200" y="3770000"/>
            <a:ext cx="50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41.83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2" name="t762"/>
          <p:cNvSpPr txBox="1"/>
          <p:nvPr/>
        </p:nvSpPr>
        <p:spPr>
          <a:xfrm>
            <a:off x="7778200" y="3770000"/>
            <a:ext cx="57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9.68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3" name="b763"/>
          <p:cNvSpPr>
            <a:spLocks noTextEdit="1"/>
          </p:cNvSpPr>
          <p:nvPr/>
        </p:nvSpPr>
        <p:spPr>
          <a:xfrm>
            <a:off x="6058200" y="3965000"/>
            <a:ext cx="2900000" cy="215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/>
          <a:lstStyle/>
        </p:txBody>
      </p:sp>
      <p:sp>
        <p:nvSpPr>
          <p:cNvPr id="764" name="t764"/>
          <p:cNvSpPr txBox="1"/>
          <p:nvPr/>
        </p:nvSpPr>
        <p:spPr>
          <a:xfrm>
            <a:off x="6078200" y="4005000"/>
            <a:ext cx="65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Roboto"/>
                <a:ea typeface="Roboto"/>
                <a:cs typeface="Roboto"/>
                <a:sym typeface="Roboto"/>
              </a:rPr>
              <a:t>Peer Avgs</a:t>
            </a:r>
            <a:endParaRPr b="1"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5" name="t765"/>
          <p:cNvSpPr txBox="1"/>
          <p:nvPr/>
        </p:nvSpPr>
        <p:spPr>
          <a:xfrm>
            <a:off x="6778200" y="4005000"/>
            <a:ext cx="40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Roboto"/>
                <a:ea typeface="Roboto"/>
                <a:cs typeface="Roboto"/>
                <a:sym typeface="Roboto"/>
              </a:rPr>
              <a:t>0.80</a:t>
            </a:r>
            <a:endParaRPr b="1"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6" name="t766"/>
          <p:cNvSpPr txBox="1"/>
          <p:nvPr/>
        </p:nvSpPr>
        <p:spPr>
          <a:xfrm>
            <a:off x="7228200" y="4005000"/>
            <a:ext cx="50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Roboto"/>
                <a:ea typeface="Roboto"/>
                <a:cs typeface="Roboto"/>
                <a:sym typeface="Roboto"/>
              </a:rPr>
              <a:t>35.30</a:t>
            </a:r>
            <a:endParaRPr b="1"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7" name="t767"/>
          <p:cNvSpPr txBox="1"/>
          <p:nvPr/>
        </p:nvSpPr>
        <p:spPr>
          <a:xfrm>
            <a:off x="7778200" y="4005000"/>
            <a:ext cx="57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Roboto"/>
                <a:ea typeface="Roboto"/>
                <a:cs typeface="Roboto"/>
                <a:sym typeface="Roboto"/>
              </a:rPr>
              <a:t>20.34</a:t>
            </a:r>
            <a:endParaRPr b="1"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8" name="b768"/>
          <p:cNvSpPr>
            <a:spLocks noTextEdit="1"/>
          </p:cNvSpPr>
          <p:nvPr/>
        </p:nvSpPr>
        <p:spPr>
          <a:xfrm>
            <a:off x="6058200" y="4200000"/>
            <a:ext cx="2900000" cy="24000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txBody>
          <a:bodyPr/>
          <a:lstStyle/>
        </p:txBody>
      </p:sp>
      <p:sp>
        <p:nvSpPr>
          <p:cNvPr id="769" name="t769"/>
          <p:cNvSpPr txBox="1"/>
          <p:nvPr/>
        </p:nvSpPr>
        <p:spPr>
          <a:xfrm>
            <a:off x="6138200" y="4240000"/>
            <a:ext cx="15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Average Implied Price:</a:t>
            </a:r>
            <a:endParaRPr b="1" sz="115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0" name="t770"/>
          <p:cNvSpPr txBox="1"/>
          <p:nvPr/>
        </p:nvSpPr>
        <p:spPr>
          <a:xfrm>
            <a:off x="7738200" y="4240000"/>
            <a:ext cx="12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highlight>
                  <a:srgbClr val="FFFF00"/>
                </a:highlight>
                <a:latin typeface="Roboto"/>
                <a:ea typeface="Roboto"/>
                <a:cs typeface="Roboto"/>
                <a:sym typeface="Roboto"/>
              </a:rPr>
              <a:t>$138.96</a:t>
            </a:r>
            <a:endParaRPr b="1" sz="1500"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1" name="b771"/>
          <p:cNvSpPr>
            <a:spLocks noTextEdit="1"/>
          </p:cNvSpPr>
          <p:nvPr/>
        </p:nvSpPr>
        <p:spPr>
          <a:xfrm>
            <a:off x="79200" y="4920000"/>
            <a:ext cx="8950000" cy="23000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txBody>
          <a:bodyPr/>
          <a:lstStyle/>
        </p:txBody>
      </p:sp>
      <p:sp>
        <p:nvSpPr>
          <p:cNvPr id="772" name="t772"/>
          <p:cNvSpPr txBox="1"/>
          <p:nvPr/>
        </p:nvSpPr>
        <p:spPr>
          <a:xfrm>
            <a:off x="200000" y="4960000"/>
            <a:ext cx="8750000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 xml:space="preserve">RECOMMENDATION:  </a:t>
            </a:r>
            <a:r>
              <a:rPr lang="en" sz="11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DCF Intrinsic Value $78.94  |  Market Price ~$60  |  Kroger appears UNDERVALUED  |  Beta = most impactful input on WACC</a:t>
            </a:r>
            <a:endParaRPr sz="115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89E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logo" title="kroger_blue_tex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3475" y="3692975"/>
            <a:ext cx="1450525" cy="145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hdr"/>
          <p:cNvSpPr txBox="1"/>
          <p:nvPr/>
        </p:nvSpPr>
        <p:spPr>
          <a:xfrm>
            <a:off x="1742800" y="603175"/>
            <a:ext cx="67731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2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     </a:t>
            </a:r>
            <a:r>
              <a:rPr b="1" lang="en" sz="2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 sz="2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01" name="l901"/>
          <p:cNvCxnSpPr/>
          <p:nvPr/>
        </p:nvCxnSpPr>
        <p:spPr>
          <a:xfrm>
            <a:off x="-73500" y="2160263"/>
            <a:ext cx="9291000" cy="22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2" name="t902"/>
          <p:cNvSpPr txBox="1"/>
          <p:nvPr/>
        </p:nvSpPr>
        <p:spPr>
          <a:xfrm>
            <a:off x="79200" y="2200000"/>
            <a:ext cx="430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3380"/>
                </a:solidFill>
                <a:latin typeface="Roboto"/>
                <a:ea typeface="Roboto"/>
                <a:cs typeface="Roboto"/>
                <a:sym typeface="Roboto"/>
              </a:rPr>
              <a:t>Key Takeaways</a:t>
            </a:r>
            <a:endParaRPr b="1" sz="1600">
              <a:solidFill>
                <a:srgbClr val="0033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3" name="t903"/>
          <p:cNvSpPr txBox="1"/>
          <p:nvPr/>
        </p:nvSpPr>
        <p:spPr>
          <a:xfrm>
            <a:off x="4500000" y="2200000"/>
            <a:ext cx="450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3380"/>
                </a:solidFill>
                <a:latin typeface="Roboto"/>
                <a:ea typeface="Roboto"/>
                <a:cs typeface="Roboto"/>
                <a:sym typeface="Roboto"/>
              </a:rPr>
              <a:t>Our Recommendation</a:t>
            </a:r>
            <a:endParaRPr b="1" sz="1600">
              <a:solidFill>
                <a:srgbClr val="0033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04" name="l904"/>
          <p:cNvCxnSpPr/>
          <p:nvPr/>
        </p:nvCxnSpPr>
        <p:spPr>
          <a:xfrm>
            <a:off x="-73500" y="2505000"/>
            <a:ext cx="9291000" cy="22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5" name="b905"/>
          <p:cNvSpPr>
            <a:spLocks noTextEdit="1"/>
          </p:cNvSpPr>
          <p:nvPr/>
        </p:nvSpPr>
        <p:spPr>
          <a:xfrm>
            <a:off x="79200" y="2540000"/>
            <a:ext cx="4300000" cy="460000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txBody>
          <a:bodyPr/>
          <a:lstStyle/>
        </p:txBody>
      </p:sp>
      <p:sp>
        <p:nvSpPr>
          <p:cNvPr id="906" name="t906"/>
          <p:cNvSpPr txBox="1"/>
          <p:nvPr/>
        </p:nvSpPr>
        <p:spPr>
          <a:xfrm>
            <a:off x="150000" y="2580000"/>
            <a:ext cx="1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02D72"/>
                </a:solidFill>
                <a:latin typeface="Roboto"/>
                <a:ea typeface="Roboto"/>
                <a:cs typeface="Roboto"/>
                <a:sym typeface="Roboto"/>
              </a:rPr>
              <a:t>Business Model:</a:t>
            </a:r>
            <a:endParaRPr b="1" sz="1150">
              <a:solidFill>
                <a:srgbClr val="002D7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7" name="t907"/>
          <p:cNvSpPr txBox="1"/>
          <p:nvPr/>
        </p:nvSpPr>
        <p:spPr>
          <a:xfrm>
            <a:off x="150000" y="2770000"/>
            <a:ext cx="4150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Defensive, non-cyclical grocery retailer. ~2,700 stores in 35 states. Stable throughout 2008-09 and COVID.</a:t>
            </a:r>
            <a:endParaRPr sz="11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8" name="b908"/>
          <p:cNvSpPr>
            <a:spLocks noTextEdit="1"/>
          </p:cNvSpPr>
          <p:nvPr/>
        </p:nvSpPr>
        <p:spPr>
          <a:xfrm>
            <a:off x="79200" y="3020000"/>
            <a:ext cx="4300000" cy="460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txBody>
          <a:bodyPr/>
          <a:lstStyle/>
        </p:txBody>
      </p:sp>
      <p:sp>
        <p:nvSpPr>
          <p:cNvPr id="909" name="t909"/>
          <p:cNvSpPr txBox="1"/>
          <p:nvPr/>
        </p:nvSpPr>
        <p:spPr>
          <a:xfrm>
            <a:off x="150000" y="3060000"/>
            <a:ext cx="1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02D72"/>
                </a:solidFill>
                <a:latin typeface="Roboto"/>
                <a:ea typeface="Roboto"/>
                <a:cs typeface="Roboto"/>
                <a:sym typeface="Roboto"/>
              </a:rPr>
              <a:t>Financial Health:</a:t>
            </a:r>
            <a:endParaRPr b="1" sz="1150">
              <a:solidFill>
                <a:srgbClr val="002D7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0" name="t910"/>
          <p:cNvSpPr txBox="1"/>
          <p:nvPr/>
        </p:nvSpPr>
        <p:spPr>
          <a:xfrm>
            <a:off x="150000" y="3250000"/>
            <a:ext cx="4150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Consistent FCF ($1.5B-$3.8B/yr). Low net margins (~1-2%) are normal for grocery. D/E rose to 3.03 — increasing but manageable.</a:t>
            </a:r>
            <a:endParaRPr sz="11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1" name="b911"/>
          <p:cNvSpPr>
            <a:spLocks noTextEdit="1"/>
          </p:cNvSpPr>
          <p:nvPr/>
        </p:nvSpPr>
        <p:spPr>
          <a:xfrm>
            <a:off x="79200" y="3500000"/>
            <a:ext cx="4300000" cy="460000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txBody>
          <a:bodyPr/>
          <a:lstStyle/>
        </p:txBody>
      </p:sp>
      <p:sp>
        <p:nvSpPr>
          <p:cNvPr id="912" name="t912"/>
          <p:cNvSpPr txBox="1"/>
          <p:nvPr/>
        </p:nvSpPr>
        <p:spPr>
          <a:xfrm>
            <a:off x="150000" y="3540000"/>
            <a:ext cx="1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02D72"/>
                </a:solidFill>
                <a:latin typeface="Roboto"/>
                <a:ea typeface="Roboto"/>
                <a:cs typeface="Roboto"/>
                <a:sym typeface="Roboto"/>
              </a:rPr>
              <a:t>Capital Structure:</a:t>
            </a:r>
            <a:endParaRPr b="1" sz="1150">
              <a:solidFill>
                <a:srgbClr val="002D7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3" name="t913"/>
          <p:cNvSpPr txBox="1"/>
          <p:nvPr/>
        </p:nvSpPr>
        <p:spPr>
          <a:xfrm>
            <a:off x="150000" y="3730000"/>
            <a:ext cx="4150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Consistent with Pecking Order Hypothesis — internal financing first, then debt. WACC = 6.14%.</a:t>
            </a:r>
            <a:endParaRPr sz="11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4" name="b914"/>
          <p:cNvSpPr>
            <a:spLocks noTextEdit="1"/>
          </p:cNvSpPr>
          <p:nvPr/>
        </p:nvSpPr>
        <p:spPr>
          <a:xfrm>
            <a:off x="79200" y="3980000"/>
            <a:ext cx="4300000" cy="460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txBody>
          <a:bodyPr/>
          <a:lstStyle/>
        </p:txBody>
      </p:sp>
      <p:sp>
        <p:nvSpPr>
          <p:cNvPr id="915" name="t915"/>
          <p:cNvSpPr txBox="1"/>
          <p:nvPr/>
        </p:nvSpPr>
        <p:spPr>
          <a:xfrm>
            <a:off x="150000" y="4020000"/>
            <a:ext cx="1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02D72"/>
                </a:solidFill>
                <a:latin typeface="Roboto"/>
                <a:ea typeface="Roboto"/>
                <a:cs typeface="Roboto"/>
                <a:sym typeface="Roboto"/>
              </a:rPr>
              <a:t>Payout Policy:</a:t>
            </a:r>
            <a:endParaRPr b="1" sz="1150">
              <a:solidFill>
                <a:srgbClr val="002D7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6" name="t916"/>
          <p:cNvSpPr txBox="1"/>
          <p:nvPr/>
        </p:nvSpPr>
        <p:spPr>
          <a:xfrm>
            <a:off x="150000" y="4210000"/>
            <a:ext cx="4150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Hybrid policy: stable dividend growth (13.24%/yr avg.) + flexible buybacks. Funded through operating cash flow, not new debt.</a:t>
            </a:r>
            <a:endParaRPr sz="11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7" name="b917"/>
          <p:cNvSpPr>
            <a:spLocks noTextEdit="1"/>
          </p:cNvSpPr>
          <p:nvPr/>
        </p:nvSpPr>
        <p:spPr>
          <a:xfrm>
            <a:off x="79200" y="4460000"/>
            <a:ext cx="4300000" cy="460000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txBody>
          <a:bodyPr/>
          <a:lstStyle/>
        </p:txBody>
      </p:sp>
      <p:sp>
        <p:nvSpPr>
          <p:cNvPr id="918" name="t918"/>
          <p:cNvSpPr txBox="1"/>
          <p:nvPr/>
        </p:nvSpPr>
        <p:spPr>
          <a:xfrm>
            <a:off x="150000" y="4500000"/>
            <a:ext cx="1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02D72"/>
                </a:solidFill>
                <a:latin typeface="Roboto"/>
                <a:ea typeface="Roboto"/>
                <a:cs typeface="Roboto"/>
                <a:sym typeface="Roboto"/>
              </a:rPr>
              <a:t>Pro Forma:</a:t>
            </a:r>
            <a:endParaRPr b="1" sz="1150">
              <a:solidFill>
                <a:srgbClr val="002D7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9" name="t919"/>
          <p:cNvSpPr txBox="1"/>
          <p:nvPr/>
        </p:nvSpPr>
        <p:spPr>
          <a:xfrm>
            <a:off x="150000" y="4690000"/>
            <a:ext cx="4150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Projected 2025 Sales $152.77B, Net Income $3.04B, ROA 5.2%, ROE 16.2%. Balance sheet balanced with $8.06B cash plug.</a:t>
            </a:r>
            <a:endParaRPr sz="11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0" name="b920"/>
          <p:cNvSpPr>
            <a:spLocks noTextEdit="1"/>
          </p:cNvSpPr>
          <p:nvPr/>
        </p:nvSpPr>
        <p:spPr>
          <a:xfrm>
            <a:off x="4500000" y="2540000"/>
            <a:ext cx="4450000" cy="80000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txBody>
          <a:bodyPr/>
          <a:lstStyle/>
        </p:txBody>
      </p:sp>
      <p:sp>
        <p:nvSpPr>
          <p:cNvPr id="921" name="t921"/>
          <p:cNvSpPr txBox="1"/>
          <p:nvPr/>
        </p:nvSpPr>
        <p:spPr>
          <a:xfrm>
            <a:off x="4600000" y="2580000"/>
            <a:ext cx="425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Intrinsic Value Estimate</a:t>
            </a:r>
            <a:endParaRPr b="1"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2" name="t922"/>
          <p:cNvSpPr txBox="1"/>
          <p:nvPr/>
        </p:nvSpPr>
        <p:spPr>
          <a:xfrm>
            <a:off x="4600000" y="2850000"/>
            <a:ext cx="425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highlight>
                  <a:srgbClr val="FFFF00"/>
                </a:highlight>
                <a:latin typeface="Roboto"/>
                <a:ea typeface="Roboto"/>
                <a:cs typeface="Roboto"/>
                <a:sym typeface="Roboto"/>
              </a:rPr>
              <a:t>$78.94</a:t>
            </a:r>
            <a:endParaRPr b="1" sz="3200"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3" name="t923"/>
          <p:cNvSpPr txBox="1"/>
          <p:nvPr/>
        </p:nvSpPr>
        <p:spPr>
          <a:xfrm>
            <a:off x="4600000" y="3240000"/>
            <a:ext cx="425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AACCFF"/>
                </a:solidFill>
                <a:latin typeface="Roboto"/>
                <a:ea typeface="Roboto"/>
                <a:cs typeface="Roboto"/>
                <a:sym typeface="Roboto"/>
              </a:rPr>
              <a:t>per share  (DCF method)</a:t>
            </a:r>
            <a:endParaRPr sz="1150">
              <a:solidFill>
                <a:srgbClr val="AACC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4" name="b924"/>
          <p:cNvSpPr>
            <a:spLocks noTextEdit="1"/>
          </p:cNvSpPr>
          <p:nvPr/>
        </p:nvSpPr>
        <p:spPr>
          <a:xfrm>
            <a:off x="4500000" y="3380000"/>
            <a:ext cx="4450000" cy="380000"/>
          </a:xfrm>
          <a:prstGeom prst="rect">
            <a:avLst/>
          </a:prstGeom>
          <a:solidFill>
            <a:srgbClr val="003D8F"/>
          </a:solidFill>
          <a:ln>
            <a:noFill/>
          </a:ln>
        </p:spPr>
        <p:txBody>
          <a:bodyPr/>
          <a:lstStyle/>
        </p:txBody>
      </p:sp>
      <p:sp>
        <p:nvSpPr>
          <p:cNvPr id="925" name="t925"/>
          <p:cNvSpPr txBox="1"/>
          <p:nvPr/>
        </p:nvSpPr>
        <p:spPr>
          <a:xfrm>
            <a:off x="4580000" y="3400000"/>
            <a:ext cx="430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AAAACC"/>
                </a:solidFill>
                <a:latin typeface="Roboto"/>
                <a:ea typeface="Roboto"/>
                <a:cs typeface="Roboto"/>
                <a:sym typeface="Roboto"/>
              </a:rPr>
              <a:t>Market Price (Jan 2025):</a:t>
            </a:r>
            <a:endParaRPr sz="1200">
              <a:solidFill>
                <a:srgbClr val="AAAA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6" name="t926"/>
          <p:cNvSpPr txBox="1"/>
          <p:nvPr/>
        </p:nvSpPr>
        <p:spPr>
          <a:xfrm>
            <a:off x="4580000" y="3555000"/>
            <a:ext cx="430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~$60  /  share</a:t>
            </a:r>
            <a:endParaRPr b="1"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7" name="b927"/>
          <p:cNvSpPr>
            <a:spLocks noTextEdit="1"/>
          </p:cNvSpPr>
          <p:nvPr/>
        </p:nvSpPr>
        <p:spPr>
          <a:xfrm>
            <a:off x="4500000" y="3790000"/>
            <a:ext cx="4450000" cy="340000"/>
          </a:xfrm>
          <a:prstGeom prst="rect">
            <a:avLst/>
          </a:prstGeom>
          <a:solidFill>
            <a:srgbClr val="1A6B1A"/>
          </a:solidFill>
          <a:ln>
            <a:noFill/>
          </a:ln>
        </p:spPr>
        <p:txBody>
          <a:bodyPr/>
          <a:lstStyle/>
        </p:txBody>
      </p:sp>
      <p:sp>
        <p:nvSpPr>
          <p:cNvPr id="928" name="t928"/>
          <p:cNvSpPr txBox="1"/>
          <p:nvPr/>
        </p:nvSpPr>
        <p:spPr>
          <a:xfrm>
            <a:off x="4580000" y="3820000"/>
            <a:ext cx="43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 xml:space="preserve">VERDICT: </a:t>
            </a:r>
            <a:r>
              <a:rPr b="1" lang="en" sz="1400">
                <a:highlight>
                  <a:srgbClr val="FFFF00"/>
                </a:highlight>
                <a:latin typeface="Roboto"/>
                <a:ea typeface="Roboto"/>
                <a:cs typeface="Roboto"/>
                <a:sym typeface="Roboto"/>
              </a:rPr>
              <a:t>UNDERVALUED by ~32%</a:t>
            </a:r>
            <a:endParaRPr b="1" sz="1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9" name="t929"/>
          <p:cNvSpPr txBox="1"/>
          <p:nvPr/>
        </p:nvSpPr>
        <p:spPr>
          <a:xfrm>
            <a:off x="4500000" y="4170000"/>
            <a:ext cx="445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3380"/>
                </a:solidFill>
                <a:latin typeface="Roboto"/>
                <a:ea typeface="Roboto"/>
                <a:cs typeface="Roboto"/>
                <a:sym typeface="Roboto"/>
              </a:rPr>
              <a:t>CFO Recommendations:</a:t>
            </a:r>
            <a:endParaRPr b="1" sz="1250">
              <a:solidFill>
                <a:srgbClr val="0033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0" name="t930"/>
          <p:cNvSpPr txBox="1"/>
          <p:nvPr/>
        </p:nvSpPr>
        <p:spPr>
          <a:xfrm>
            <a:off x="4500000" y="4380000"/>
            <a:ext cx="445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• Maintain ~13% annual dividend growth</a:t>
            </a:r>
            <a:endParaRPr sz="1150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1" name="t931"/>
          <p:cNvSpPr txBox="1"/>
          <p:nvPr/>
        </p:nvSpPr>
        <p:spPr>
          <a:xfrm>
            <a:off x="4500000" y="4575000"/>
            <a:ext cx="445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• Flexible buybacks of $1-2B in 2025</a:t>
            </a:r>
            <a:endParaRPr sz="1150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2" name="t932"/>
          <p:cNvSpPr txBox="1"/>
          <p:nvPr/>
        </p:nvSpPr>
        <p:spPr>
          <a:xfrm>
            <a:off x="4500000" y="4770000"/>
            <a:ext cx="445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• Preserve flexibility post-Albertsons merger uncertainty</a:t>
            </a:r>
            <a:endParaRPr sz="1150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3" name="t933"/>
          <p:cNvSpPr txBox="1"/>
          <p:nvPr/>
        </p:nvSpPr>
        <p:spPr>
          <a:xfrm>
            <a:off x="4500000" y="4965000"/>
            <a:ext cx="445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91425" spcFirstLastPara="1" rIns="91425" wrap="square" tIns="6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• Continue digital &amp; supply chain investment</a:t>
            </a:r>
            <a:endParaRPr sz="1150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