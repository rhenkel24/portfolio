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Quattrocento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BF31C6-32BA-480A-A1A1-1B066E6BCAFB}">
  <a:tblStyle styleId="{42BF31C6-32BA-480A-A1A1-1B066E6BCAF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aad3dda2a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aad3dda2a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5" name="Google Shape;55;g3daad3dda2a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ad3dda2a_2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aad3dda2a_2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71" name="Google Shape;71;g3daad3dda2a_2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aad3dda2a_2_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aad3dda2a_2_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333333"/>
              </a:solidFill>
            </a:endParaRPr>
          </a:p>
        </p:txBody>
      </p:sp>
      <p:sp>
        <p:nvSpPr>
          <p:cNvPr id="126" name="Google Shape;126;g3daad3dda2a_2_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aad3dda2a_2_1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aad3dda2a_2_1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1111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03366"/>
              </a:solidFill>
            </a:endParaRPr>
          </a:p>
        </p:txBody>
      </p:sp>
      <p:sp>
        <p:nvSpPr>
          <p:cNvPr id="158" name="Google Shape;158;g3daad3dda2a_2_10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aad3dda2a_2_1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daad3dda2a_2_1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0" name="Google Shape;200;g3daad3dda2a_2_1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aad3dda2a_2_1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daad3dda2a_2_1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4" name="Google Shape;234;g3daad3dda2a_2_1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78d8dc4b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e78d8dc4b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ad3dda2a_2_2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daad3dda2a_2_2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5" name="Google Shape;275;g3daad3dda2a_2_2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aad3dda2a_2_2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daad3dda2a_2_2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rgbClr val="003366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6" name="Google Shape;296;g3daad3dda2a_2_2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aad3dda2a_2_2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daad3dda2a_2_2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Clr>
                <a:srgbClr val="003366"/>
              </a:buClr>
              <a:buSzPts val="900"/>
              <a:buFont typeface="Calibri"/>
              <a:buNone/>
            </a:pPr>
            <a:r>
              <a:t/>
            </a:r>
            <a:endParaRPr b="1" sz="900">
              <a:solidFill>
                <a:srgbClr val="003366"/>
              </a:solidFill>
            </a:endParaRPr>
          </a:p>
        </p:txBody>
      </p:sp>
      <p:sp>
        <p:nvSpPr>
          <p:cNvPr id="320" name="Google Shape;320;g3daad3dda2a_2_2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78d8dc4b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e78d8dc4bc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78d8dc4bc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e78d8dc4bc_4_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78d8dc4bc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78d8dc4bc_4_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78d8dc4bc_4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e78d8dc4bc_4_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78d8dc4bc_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78d8dc4bc_4_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3A5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320040" y="502920"/>
            <a:ext cx="1005840" cy="100584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1362456" y="502920"/>
            <a:ext cx="1005840" cy="100584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320040" y="1545336"/>
            <a:ext cx="1005840" cy="1005840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1362456" y="1545336"/>
            <a:ext cx="1005840" cy="1005840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2743200" y="365760"/>
            <a:ext cx="5943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Quattrocento Sans"/>
              <a:buNone/>
            </a:pPr>
            <a:r>
              <a:rPr b="1" i="0" lang="en" sz="1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MSFT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274320" y="283464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Quattrocento Sans"/>
              <a:buNone/>
            </a:pPr>
            <a:r>
              <a:rPr b="0" i="0" lang="en" sz="3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Microsoft Corporation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1700"/>
              <a:buFont typeface="Quattrocento Sans"/>
              <a:buNone/>
            </a:pPr>
            <a:r>
              <a:rPr b="0" i="0" lang="en" sz="1700" u="none" cap="none" strike="noStrike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Equity Research Pitch  ·  </a:t>
            </a:r>
            <a:r>
              <a:rPr lang="en" sz="1700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MSFT</a:t>
            </a:r>
            <a:r>
              <a:rPr b="0" i="0" lang="en" sz="1700" u="none" cap="none" strike="noStrike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</a:t>
            </a:r>
            <a:r>
              <a:rPr lang="en" sz="1700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BUY</a:t>
            </a:r>
            <a:r>
              <a:rPr b="0" i="0" lang="en" sz="1700" u="none" cap="none" strike="noStrike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274320" y="3858768"/>
            <a:ext cx="8595360" cy="2743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274320" y="3931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1200"/>
              <a:buFont typeface="Quattrocento Sans"/>
              <a:buNone/>
            </a:pPr>
            <a:r>
              <a:rPr b="0" i="0" lang="en" sz="120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Thomas Sauter  ·  Reagan Henkel  ·  Alex Harrell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760720" y="39319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1200"/>
              <a:buFont typeface="Quattrocento Sans"/>
              <a:buNone/>
            </a:pPr>
            <a:r>
              <a:rPr b="0" i="0" lang="en" sz="120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April 28,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99B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6699B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Miami University  |  F</a:t>
            </a:r>
            <a:r>
              <a:rPr lang="en" sz="900">
                <a:solidFill>
                  <a:srgbClr val="6699B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401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8375904" y="0"/>
            <a:ext cx="256032" cy="56692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8631936" y="0"/>
            <a:ext cx="256032" cy="56692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8887968" y="0"/>
            <a:ext cx="256032" cy="56692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274320" y="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Company Highlights &amp; Business Description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82880" y="685800"/>
            <a:ext cx="2834640" cy="4206240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182880" y="6858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FACTS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65760" y="1078992"/>
            <a:ext cx="2468880" cy="1828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292608" y="11704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50"/>
              <a:buFont typeface="Quattrocento Sans"/>
              <a:buNone/>
            </a:pPr>
            <a:r>
              <a:rPr b="1" i="0" lang="en" sz="85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600200" y="117043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1975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92608" y="16824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50"/>
              <a:buFont typeface="Quattrocento Sans"/>
              <a:buNone/>
            </a:pPr>
            <a:r>
              <a:rPr b="1" i="0" lang="en" sz="85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Headquarters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600200" y="16824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Redmond, WA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92608" y="21945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50"/>
              <a:buFont typeface="Quattrocento Sans"/>
              <a:buNone/>
            </a:pPr>
            <a:r>
              <a:rPr b="1" i="0" lang="en" sz="85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Employees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600200" y="21945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~228,000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92608" y="270662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50"/>
              <a:buFont typeface="Quattrocento Sans"/>
              <a:buNone/>
            </a:pPr>
            <a:r>
              <a:rPr b="1" i="0" lang="en" sz="85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600200" y="270662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Operating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92608" y="32186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50"/>
              <a:buFont typeface="Quattrocento Sans"/>
              <a:buNone/>
            </a:pPr>
            <a:r>
              <a:rPr b="1" i="0" lang="en" sz="85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Exchange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600200" y="32186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NASDAQ: MSFT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92608" y="37307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50"/>
              <a:buFont typeface="Quattrocento Sans"/>
              <a:buNone/>
            </a:pPr>
            <a:r>
              <a:rPr b="1" i="0" lang="en" sz="85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1600200" y="37307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Land &amp; expand SaaS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92608" y="424281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50"/>
              <a:buFont typeface="Quattrocento Sans"/>
              <a:buNone/>
            </a:pPr>
            <a:r>
              <a:rPr b="1" i="0" lang="en" sz="85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600200" y="424281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Subscriptions + consumption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3200400" y="685800"/>
            <a:ext cx="576072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3200400" y="740664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Software &amp; Cloud Leader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200400" y="1060704"/>
            <a:ext cx="5760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50"/>
              <a:buFont typeface="Quattrocento Sans"/>
              <a:buNone/>
            </a:pPr>
            <a:r>
              <a:rPr b="1" i="0" lang="en" sz="9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platforms: </a:t>
            </a:r>
            <a:r>
              <a:rPr b="0" i="0" lang="en" sz="9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Azure, Microsoft 365, Windows, LinkedIn, GitHub, Xbox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50"/>
              <a:buFont typeface="Quattrocento Sans"/>
              <a:buNone/>
            </a:pPr>
            <a:r>
              <a:rPr b="1" i="0" lang="en" sz="9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model: </a:t>
            </a:r>
            <a:r>
              <a:rPr b="0" i="0" lang="en" sz="9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High-margin subscriptions, cloud consumption billing, and enterprise licensing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200400" y="1737360"/>
            <a:ext cx="576072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3200400" y="1792224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Segment Revenue Breakdown (FY2025  |  Total: $281.7B)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3200400" y="2084832"/>
            <a:ext cx="54864" cy="47548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3310128" y="210312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07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Productivity &amp; Business Processes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3310128" y="2313432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$120.8B (+12%)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440680" y="2084832"/>
            <a:ext cx="640080" cy="47548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5440680" y="2084832"/>
            <a:ext cx="640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6172200" y="2157984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Microsoft 365, Teams, LinkedIn, Dynamics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200400" y="2651760"/>
            <a:ext cx="54864" cy="475488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3310128" y="267004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Intelligent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310128" y="2880360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$109.4B (+19%)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5440680" y="2651760"/>
            <a:ext cx="640080" cy="475488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440680" y="2651760"/>
            <a:ext cx="640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39%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6172200" y="272491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Azure, Server Products — fastest-growing segment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200400" y="3218688"/>
            <a:ext cx="54864" cy="47548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310128" y="323697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7C10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107C1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Personal Computing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310128" y="344728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$51.5B (+10%)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440680" y="3218688"/>
            <a:ext cx="640080" cy="47548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440680" y="3218688"/>
            <a:ext cx="640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172200" y="3291840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Windows, Xbox, Search &amp; News advertising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200400" y="3776472"/>
            <a:ext cx="576072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3200400" y="3831336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Competitive Moat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200400" y="4114800"/>
            <a:ext cx="57607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400M+ Microsoft 365 seats — deep enterprise lock-in and very high switching costs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OpenAI partnership + Azure AI + Copilot = end-to-end AI platform advantage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$315B+ Remaining Performance Obligation (RPO) = multi-year contracted revenue visibility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50"/>
              <a:buFont typeface="Quattrocento Sans"/>
              <a:buNone/>
            </a:pPr>
            <a:r>
              <a:rPr b="0" i="1" lang="en" sz="65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Microsoft FY2025 Annual Report (10-K, filed Jul 2025); Microsoft Investor Relations at microsoft.com/investor; company.newsroom.microsoft.com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8375904" y="0"/>
            <a:ext cx="256032" cy="56692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8631936" y="0"/>
            <a:ext cx="256032" cy="56692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8887968" y="0"/>
            <a:ext cx="256032" cy="56692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274320" y="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Industry Overview &amp; Competitive Positioning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164592" y="685800"/>
            <a:ext cx="2121408" cy="210312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164592" y="685800"/>
            <a:ext cx="2121408" cy="34747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256032" y="6858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Global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237744" y="1069848"/>
            <a:ext cx="199339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 is the #2 cloud platform by revenue (21% share)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Serves virtually every major enterprise IT budget worldwide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Installed base of 400M+ commercial users across 180+ countries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386584" y="685800"/>
            <a:ext cx="2121408" cy="210312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2386584" y="685800"/>
            <a:ext cx="2121408" cy="347472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2478024" y="6858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Platform Depth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459736" y="1069848"/>
            <a:ext cx="199339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Full-stack AI advantage: cloud infra, OpenAI models, Copilot apps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Copilot is embedded directly into existing Microsoft 365 workflows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Copilot: 20M+ users; 90% of the Fortune 500 using M365 Copilot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608576" y="685800"/>
            <a:ext cx="2121408" cy="210312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608576" y="685800"/>
            <a:ext cx="2121408" cy="347472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00016" y="6858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Quattrocento Sans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Switching Costs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681728" y="1069848"/>
            <a:ext cx="199339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 + Teams + M365 + GitHub = tightly integrated enterprise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Replacing any piece is expensive, time-consuming, and operationally risky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gravity and developer tools reinforce Azure stickiness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830568" y="685800"/>
            <a:ext cx="2121408" cy="210312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6830568" y="685800"/>
            <a:ext cx="2121408" cy="347472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6922008" y="6858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Portfolio Resilience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903720" y="1069848"/>
            <a:ext cx="1993392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+ productivity + software mix smooths revenue through downturns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Recurring subscription and cloud revenue provides high cash flow visibility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605E5C"/>
              </a:buClr>
              <a:buSzPts val="1000"/>
              <a:buFont typeface="Quattrocento Sans"/>
              <a:buChar char="•"/>
            </a:pPr>
            <a:r>
              <a:rPr b="0" i="0" lang="en" sz="10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is a growth layer on top of already profitable, mature product lines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164592" y="2926080"/>
            <a:ext cx="8814816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164592" y="2980944"/>
            <a:ext cx="8814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 Valuation Comparison  (Source: FactSet, as of Apr 28, 2026)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164592" y="331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{42BF31C6-32BA-480A-A1A1-1B066E6BCAFB}</a:tableStyleId>
              </a:tblPr>
              <a:tblGrid>
                <a:gridCol w="2011675"/>
                <a:gridCol w="1280150"/>
                <a:gridCol w="1280150"/>
                <a:gridCol w="1371600"/>
                <a:gridCol w="1645925"/>
                <a:gridCol w="118872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Company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Mkt Cap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Fwd P/E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EV/EBITDA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Rev Growth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 Margin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0078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Microsoft (MSFT)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chemeClr val="accent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$3.2T</a:t>
                      </a:r>
                      <a:endParaRPr sz="950" u="none" cap="none" strike="noStrike">
                        <a:solidFill>
                          <a:schemeClr val="accent5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chemeClr val="accent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~22x </a:t>
                      </a:r>
                      <a:endParaRPr sz="950" u="none" cap="none" strike="noStrike">
                        <a:solidFill>
                          <a:schemeClr val="accent5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chemeClr val="accent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~18x</a:t>
                      </a:r>
                      <a:endParaRPr sz="950" u="none" cap="none" strike="noStrike">
                        <a:solidFill>
                          <a:schemeClr val="accent5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chemeClr val="accent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+15% (FY25)</a:t>
                      </a:r>
                      <a:endParaRPr sz="950" u="none" cap="none" strike="noStrike">
                        <a:solidFill>
                          <a:schemeClr val="accent5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chemeClr val="accent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45.6%</a:t>
                      </a:r>
                      <a:endParaRPr sz="950" u="none" cap="none" strike="noStrike">
                        <a:solidFill>
                          <a:schemeClr val="accent5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Alphabet (GOOGL)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$1.9T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~2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26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22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Amazon (AMZN)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$2.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18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+1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 (AWS)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11.5%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Oracle (ORCL)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60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18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18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x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+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32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7"/>
          <p:cNvSpPr/>
          <p:nvPr/>
        </p:nvSpPr>
        <p:spPr>
          <a:xfrm>
            <a:off x="164592" y="4846320"/>
            <a:ext cx="6858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750"/>
              <a:buFont typeface="Quattrocento Sans"/>
              <a:buNone/>
            </a:pPr>
            <a:r>
              <a:rPr b="0" i="1" lang="en" sz="750" u="none" cap="none" strike="noStrike">
                <a:solidFill>
                  <a:srgbClr val="007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★ MSFT trades at a 27% discount to its 5-year avg P/E of ~30x while growing faster than peers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50"/>
              <a:buFont typeface="Quattrocento Sans"/>
              <a:buNone/>
            </a:pPr>
            <a:r>
              <a:rPr b="0" i="1" lang="en" sz="65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Synergy Research Group Q1 2026 cloud market share; FactSet consensus multiples as of Apr 28, 2026; company 10-K filings (SEC EDGAR)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375904" y="0"/>
            <a:ext cx="256032" cy="56692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8631936" y="0"/>
            <a:ext cx="256032" cy="56692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8887968" y="0"/>
            <a:ext cx="256032" cy="56692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274320" y="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 Aspects &amp; Investment Catalysts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182880" y="713232"/>
            <a:ext cx="530352" cy="86868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182880" y="713232"/>
            <a:ext cx="5303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22960" y="749808"/>
            <a:ext cx="39959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007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 Reacceleration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22960" y="1060704"/>
            <a:ext cx="3995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 grew 35% in FY2025; AI workloads drove over half of incremental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Guided 37–38% growth in Q3 FY2026 as committed backlog capacity comes online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182880" y="1783080"/>
            <a:ext cx="530352" cy="868680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182880" y="1783080"/>
            <a:ext cx="5303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22960" y="1819656"/>
            <a:ext cx="39959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Copilot Monetization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22960" y="2130552"/>
            <a:ext cx="3995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15M paid seats at $30/user/month — growing 160% YoY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10% of the 400M+ seat base → $14B+ in incremental ARR at near-100% 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82880" y="2852928"/>
            <a:ext cx="530352" cy="86868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182880" y="2852928"/>
            <a:ext cx="5303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22960" y="2889504"/>
            <a:ext cx="39959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7C10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07C1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Valuation Entry 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22960" y="3200400"/>
            <a:ext cx="3995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MSFT trades at ~22x forward earnings, its lowest in 3 years vs. ~30x historical avg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High-quality AI compounder priced at a meaningful discount to intrinsic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182880" y="3922776"/>
            <a:ext cx="530352" cy="868680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182880" y="3922776"/>
            <a:ext cx="5303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22960" y="3959352"/>
            <a:ext cx="39959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900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FFB9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Backlog (RPO)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22960" y="4270248"/>
            <a:ext cx="3995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$315B+ in contracted future revenue — rare multi-year revenue floor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Backlog visibility significantly reduces execution risk vs. other AI plays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029200" y="713232"/>
            <a:ext cx="393192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029200" y="76809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 Revenue Growth (YoY%)  —  Microsoft Earnings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024128"/>
            <a:ext cx="3931920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/>
          <p:nvPr/>
        </p:nvSpPr>
        <p:spPr>
          <a:xfrm>
            <a:off x="5029200" y="3291840"/>
            <a:ext cx="393192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029200" y="334670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Copilot Monetization  |  Microsoft Q2 FY2026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5029200" y="3611880"/>
            <a:ext cx="1234440" cy="109728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029200" y="36850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5029200" y="4274828"/>
            <a:ext cx="123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6FA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F3F6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Paid Copilot Seats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355080" y="3611880"/>
            <a:ext cx="1234440" cy="1097280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6355080" y="36850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355080" y="4274841"/>
            <a:ext cx="123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6FA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F3F6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YoY Seat Growth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7680960" y="3611880"/>
            <a:ext cx="1234440" cy="109728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7680960" y="36850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$14B+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680960" y="4274816"/>
            <a:ext cx="123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F6FA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F3F6F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ARR at 10% penetration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50"/>
              <a:buFont typeface="Quattrocento Sans"/>
              <a:buNone/>
            </a:pPr>
            <a:r>
              <a:rPr b="0" i="1" lang="en" sz="65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Microsoft Q2 FY2026 Earnings Release (Jan 29, 2026); Microsoft FY2025 Annual Report (10-K); Microsoft Q4 FY2025 Earnings Call Transcript; FactSet consensus estimates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8375904" y="0"/>
            <a:ext cx="256032" cy="56692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8631936" y="0"/>
            <a:ext cx="256032" cy="56692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8887968" y="0"/>
            <a:ext cx="256032" cy="56692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274320" y="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Financial Position  |  FY2025 Full Year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164592" y="658368"/>
            <a:ext cx="1691640" cy="987552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164592" y="731520"/>
            <a:ext cx="1691640" cy="5925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$281.7B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164592" y="1292979"/>
            <a:ext cx="16917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EEF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(+15% YoY)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1947672" y="658368"/>
            <a:ext cx="1691640" cy="987552"/>
          </a:xfrm>
          <a:prstGeom prst="rect">
            <a:avLst/>
          </a:prstGeom>
          <a:solidFill>
            <a:srgbClr val="00A4EF"/>
          </a:solidFill>
          <a:ln cap="flat" cmpd="sng" w="12700">
            <a:solidFill>
              <a:srgbClr val="00A4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1947672" y="731520"/>
            <a:ext cx="1691640" cy="5925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45.6%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1947672" y="1292979"/>
            <a:ext cx="16917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EEF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Operating 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3730752" y="658368"/>
            <a:ext cx="1691640" cy="987552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3730752" y="731520"/>
            <a:ext cx="1691640" cy="5925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$101.8B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730777" y="1292979"/>
            <a:ext cx="16917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EEF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 Income (+18%)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513832" y="658368"/>
            <a:ext cx="1691640" cy="987552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513832" y="731520"/>
            <a:ext cx="1691640" cy="5925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$13.64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513832" y="1292979"/>
            <a:ext cx="16917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EEF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EPS (Diluted)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7296912" y="658368"/>
            <a:ext cx="1691640" cy="987552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7296912" y="731520"/>
            <a:ext cx="1691640" cy="5925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$107.4B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7296887" y="1292979"/>
            <a:ext cx="16917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F4FF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EEF4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Free Cash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164592" y="1755648"/>
            <a:ext cx="429768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164592" y="181051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&amp; Net Income  |  FY2021–FY2025  (Microsoft 10-K)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" y="2084832"/>
            <a:ext cx="429768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4663440" y="1755648"/>
            <a:ext cx="431596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4663440" y="1810512"/>
            <a:ext cx="4315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FY2025 Revenue by Segment  |  Microsoft 10-K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4663440" y="3931920"/>
            <a:ext cx="4315968" cy="822960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 Sheet  |  FY2025</a:t>
            </a:r>
            <a:endParaRPr sz="8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Cash: $78.4B   |   Total Debt: ~$44B   |   Net Cash: ~$34B</a:t>
            </a:r>
            <a:endParaRPr sz="8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Dividends: $23.3B   |   Buybacks: $17.4B   |   AI Capex: $64.6B</a:t>
            </a:r>
            <a:endParaRPr sz="8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ROE: 34%   |   EBITDA: $162.4B   |   EBITDA Margin: 57.7%</a:t>
            </a:r>
            <a:endParaRPr sz="85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50"/>
              <a:buFont typeface="Quattrocento Sans"/>
              <a:buNone/>
            </a:pPr>
            <a:r>
              <a:rPr b="0" i="1" lang="en" sz="65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Microsoft FY2025 Annual Report (10-K), filed Jul 30, 2025 (sec.gov, CIK: 0000789019); Microsoft Q4 FY2025 Earnings Press Release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449" y="2186475"/>
            <a:ext cx="4315950" cy="1828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8375904" y="0"/>
            <a:ext cx="256032" cy="56692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8631936" y="0"/>
            <a:ext cx="256032" cy="56692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8887968" y="0"/>
            <a:ext cx="256032" cy="56692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274320" y="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Investment Risks  |  Bull / Base / Bear Scenario Analysis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64592" y="685800"/>
            <a:ext cx="2852928" cy="4224528"/>
          </a:xfrm>
          <a:prstGeom prst="rect">
            <a:avLst/>
          </a:prstGeom>
          <a:solidFill>
            <a:srgbClr val="EAF4EA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164592" y="685800"/>
            <a:ext cx="2852928" cy="438912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256032" y="68580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UPSIDE — Bull Case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29184" y="1124712"/>
            <a:ext cx="2523744" cy="38404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329184" y="112471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Price: ~$550–$610/share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301752" y="1508760"/>
            <a:ext cx="2615184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Azure re-accelerates past 40% YoY as committed backlog capacity comes online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Copilot seat adoption beats expectations — penetration reaches double digits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Commercial RPO converts cleanly, supporting sustained double-digit revenue growth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Valuation re-rates toward historical ~30x P/E as growth narrative strengthens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118104" y="685800"/>
            <a:ext cx="2852928" cy="4224528"/>
          </a:xfrm>
          <a:prstGeom prst="rect">
            <a:avLst/>
          </a:prstGeom>
          <a:solidFill>
            <a:srgbClr val="FFFAED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3118104" y="685800"/>
            <a:ext cx="2852928" cy="438912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3209544" y="68580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 CASE — Most Likely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3282696" y="1124712"/>
            <a:ext cx="2523744" cy="38404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3282696" y="112471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Price: ~$490/share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3255264" y="1508760"/>
            <a:ext cx="2615184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grows mid-teens as Azure holds above 35% and Copilot scales steadily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Operating margins stabilize as Copilot revenue offsets elevated infrastructure capex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EPS compounds at 15–18% annually; dividend continues to grow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Stock re-rates modestly from current 22x to ~28–30x forward earnings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6071616" y="685800"/>
            <a:ext cx="2852928" cy="4224528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6071616" y="685800"/>
            <a:ext cx="2852928" cy="438912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6163056" y="685800"/>
            <a:ext cx="2715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Quattrocento Sans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DOWNSIDE — Bear Case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6236208" y="1124712"/>
            <a:ext cx="2523744" cy="38404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"/>
          <p:cNvSpPr/>
          <p:nvPr/>
        </p:nvSpPr>
        <p:spPr>
          <a:xfrm>
            <a:off x="6236208" y="1124712"/>
            <a:ext cx="25237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Price: ~$340/share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6208776" y="1508760"/>
            <a:ext cx="2615184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877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Copilot enterprise adoption stalls; companies slow AI seat purchases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$64.6B in FY2025 capex does not convert to revenue, compressing free cash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and Google Cloud gain cloud market share at Azure's expense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8775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605E5C"/>
              </a:buClr>
              <a:buSzPts val="1200"/>
              <a:buFont typeface="Quattrocento Sans"/>
              <a:buChar char="•"/>
            </a:pPr>
            <a:r>
              <a:rPr b="0" i="0" lang="en" sz="1200" u="none" cap="none" strike="noStrike">
                <a:solidFill>
                  <a:srgbClr val="605E5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interest rates compress multiples; stock de-rates further from 22x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64542" y="4942200"/>
            <a:ext cx="8814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800"/>
              <a:buFont typeface="Quattrocento Sans"/>
              <a:buNone/>
            </a:pPr>
            <a:r>
              <a:rPr b="0" i="1" lang="en" sz="8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risk: $64.6B in FY2025 capex must convert to revenue — but the $315B RPO backlog confirms demand is already contracted. This is a timing risk, not a demand risk.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 Forma Income Statement  |  FY2025A – FY20</a:t>
            </a:r>
            <a:r>
              <a:rPr b="1" lang="en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8887968" y="0"/>
            <a:ext cx="255900" cy="567000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8631936" y="0"/>
            <a:ext cx="255900" cy="567000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8375904" y="0"/>
            <a:ext cx="255900" cy="56700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1" title="Screenshot 2026-05-03 at 9.20.15 PM.png"/>
          <p:cNvPicPr preferRelativeResize="0"/>
          <p:nvPr/>
        </p:nvPicPr>
        <p:blipFill rotWithShape="1">
          <a:blip r:embed="rId3">
            <a:alphaModFix/>
          </a:blip>
          <a:srcRect b="0" l="0" r="319" t="0"/>
          <a:stretch/>
        </p:blipFill>
        <p:spPr>
          <a:xfrm>
            <a:off x="0" y="567000"/>
            <a:ext cx="9143815" cy="37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"/>
          <p:cNvSpPr/>
          <p:nvPr/>
        </p:nvSpPr>
        <p:spPr>
          <a:xfrm>
            <a:off x="8375904" y="0"/>
            <a:ext cx="256032" cy="56692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8631936" y="0"/>
            <a:ext cx="256032" cy="56692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8887968" y="0"/>
            <a:ext cx="256032" cy="56692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274320" y="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Valuation — DCF &amp; Relative Analysis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164592" y="685800"/>
            <a:ext cx="416052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164592" y="74066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DCF Valuation — Key Assumptions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22"/>
          <p:cNvGraphicFramePr/>
          <p:nvPr/>
        </p:nvGraphicFramePr>
        <p:xfrm>
          <a:off x="164592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{42BF31C6-32BA-480A-A1A1-1B066E6BCAFB}</a:tableStyleId>
              </a:tblPr>
              <a:tblGrid>
                <a:gridCol w="2743200"/>
                <a:gridCol w="1417325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Input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Value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Revenue CAGR (FY26–30)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Terminal EBITDA Margin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57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WACC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.0%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Terminal Growth Rate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</a:t>
                      </a:r>
                      <a:r>
                        <a:rPr lang="en" sz="950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Capex / Revenue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Effective Tax Rate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50"/>
                        <a:buFont typeface="Quattrocento Sans"/>
                        <a:buNone/>
                      </a:pPr>
                      <a:r>
                        <a:rPr lang="en" sz="95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18%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Base Case Value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Quattrocento Sans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$490 / share</a:t>
                      </a:r>
                      <a:endParaRPr sz="95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8D4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22"/>
          <p:cNvSpPr/>
          <p:nvPr/>
        </p:nvSpPr>
        <p:spPr>
          <a:xfrm>
            <a:off x="164592" y="4251964"/>
            <a:ext cx="416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Quattrocento Sans"/>
              <a:buNone/>
            </a:pPr>
            <a:r>
              <a:rPr b="0" i="1" lang="en" sz="75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WACC built using CAPM: Rf = 4.4%, ERP = 5.5%, Beta = 1.0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4480560" y="685800"/>
            <a:ext cx="4498848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4480560" y="740664"/>
            <a:ext cx="44988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Relative Valuation (Comps)  |  FactSet, Apr 28,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9" name="Google Shape;289;p22"/>
          <p:cNvGraphicFramePr/>
          <p:nvPr/>
        </p:nvGraphicFramePr>
        <p:xfrm>
          <a:off x="448056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{42BF31C6-32BA-480A-A1A1-1B066E6BCAFB}</a:tableStyleId>
              </a:tblPr>
              <a:tblGrid>
                <a:gridCol w="1828800"/>
                <a:gridCol w="1463050"/>
                <a:gridCol w="120700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Metric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MSFT (Today)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Implication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Trailing P/E vs. 5Y avg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24x vs. 33x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27% discount to history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Forward P/E (NTM)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~22x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Cheapest in 3 years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EV / EBITDA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~18x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Reasonable for 57% margin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PEG Ratio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~1.1x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Paying ~1x per unit of growth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FY2027E EPS × 28x P/E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~$17 × 28 = $476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Supports $490 base case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Bull Case Value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$610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30x on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</a:t>
                      </a: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EPS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7C10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Bear Case Value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3B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$340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3B0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26x on EPS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3B01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2"/>
          <p:cNvSpPr/>
          <p:nvPr/>
        </p:nvSpPr>
        <p:spPr>
          <a:xfrm>
            <a:off x="164592" y="4187952"/>
            <a:ext cx="8814816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164592" y="4507991"/>
            <a:ext cx="881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MSFT Forward P/E — At a 3-Year Low  (Source: FactSet/Bloomberg, Apr 2026)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182880" y="4855523"/>
            <a:ext cx="8778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50"/>
              <a:buFont typeface="Quattrocento Sans"/>
              <a:buNone/>
            </a:pPr>
            <a:r>
              <a:rPr b="0" i="1" lang="en" sz="65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DCF — author model; WACC via CAPM (Rf 4.4%, ERP 5.5%, Beta 1.0); Comps from FactSet consensus as of Apr 28, 2026; Microsoft FY2025 10-K for base financials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8119872" y="0"/>
            <a:ext cx="256032" cy="566928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8375904" y="0"/>
            <a:ext cx="256032" cy="566928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8631936" y="0"/>
            <a:ext cx="256032" cy="566928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8887968" y="0"/>
            <a:ext cx="256032" cy="566928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274320" y="0"/>
            <a:ext cx="8046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Quattrocento Sans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Sensitivity &amp; Scenario Analysis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164592" y="685800"/>
            <a:ext cx="457200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164592" y="74066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DCF Sensitivity — WACC vs. Terminal Growth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23"/>
          <p:cNvGraphicFramePr/>
          <p:nvPr/>
        </p:nvGraphicFramePr>
        <p:xfrm>
          <a:off x="164592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{42BF31C6-32BA-480A-A1A1-1B066E6BCAFB}</a:tableStyleId>
              </a:tblPr>
              <a:tblGrid>
                <a:gridCol w="1554475"/>
                <a:gridCol w="758950"/>
                <a:gridCol w="758950"/>
                <a:gridCol w="749800"/>
                <a:gridCol w="7498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WACC →  TGR ↓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.5%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.0%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9.5</a:t>
                      </a: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</a:t>
                      </a: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.0%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2.5%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$510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$462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$420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$382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3.0%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$528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$479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$436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$397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78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3.5%  ← Base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$540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$490 ★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$450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$415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4.0%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$558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$506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$460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$419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23"/>
          <p:cNvSpPr/>
          <p:nvPr/>
        </p:nvSpPr>
        <p:spPr>
          <a:xfrm>
            <a:off x="164592" y="2724912"/>
            <a:ext cx="457200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164592" y="277977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Revenue Scenario Analysis — Azure Growth vs. Copilot Penetration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9" name="Google Shape;309;p23"/>
          <p:cNvGraphicFramePr/>
          <p:nvPr/>
        </p:nvGraphicFramePr>
        <p:xfrm>
          <a:off x="164592" y="3090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{42BF31C6-32BA-480A-A1A1-1B066E6BCAFB}</a:tableStyleId>
              </a:tblPr>
              <a:tblGrid>
                <a:gridCol w="2194550"/>
                <a:gridCol w="914400"/>
                <a:gridCol w="822950"/>
                <a:gridCol w="7315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Scenario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FY26E Rev.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EPS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Target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A5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3B01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D83B0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Bear: Azure 25%, Copilot 3%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$273B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$13.10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3B01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D83B0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~$340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78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Base: Azure 35%, Copilot 7%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$296B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$14.90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78D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~$490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7C10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107C1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Bull: Azure 42%, Copilot 12%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$320B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05E5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605E5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$17.20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7C10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107C1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~$610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23"/>
          <p:cNvSpPr/>
          <p:nvPr/>
        </p:nvSpPr>
        <p:spPr>
          <a:xfrm>
            <a:off x="164592" y="4604005"/>
            <a:ext cx="466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800"/>
              <a:buFont typeface="Quattrocento Sans"/>
              <a:buNone/>
            </a:pPr>
            <a:r>
              <a:rPr b="0" i="1" lang="en" sz="8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Sensitivities: ±5ppt Azure growth ≈ ±$35/share  |  ±1ppt margin ≈ ±$15/share  |  ±1% WACC ≈ ±$45/share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4937760" y="685800"/>
            <a:ext cx="4023360" cy="36576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4937748" y="736051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A5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243A5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MSFT Forward P/E History — At a 3-Year Low  (Source: FactSet, Apr 2026)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50" y="1125388"/>
            <a:ext cx="4023300" cy="31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3"/>
          <p:cNvSpPr/>
          <p:nvPr/>
        </p:nvSpPr>
        <p:spPr>
          <a:xfrm>
            <a:off x="4937760" y="4279392"/>
            <a:ext cx="4023360" cy="594360"/>
          </a:xfrm>
          <a:prstGeom prst="rect">
            <a:avLst/>
          </a:prstGeom>
          <a:solidFill>
            <a:srgbClr val="243A5E"/>
          </a:solidFill>
          <a:ln cap="flat" cmpd="sng" w="12700">
            <a:solidFill>
              <a:srgbClr val="243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"/>
          <p:cNvSpPr/>
          <p:nvPr/>
        </p:nvSpPr>
        <p:spPr>
          <a:xfrm>
            <a:off x="5029200" y="42976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Wall Street Consensus  (TipRanks / Benzinga, Apr 28, 2026)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Quattrocento Sans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35 of 35 analysts: Strong Buy  |  Avg 12-mo target: ~$566  |  High: $675  |  Low: $392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50"/>
              <a:buFont typeface="Quattrocento Sans"/>
              <a:buNone/>
            </a:pPr>
            <a:r>
              <a:rPr b="0" i="1" lang="en" sz="65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DCF sensitivity — author model; Scenarios — author estimates; P/E history — FactSet/Bloomberg; Analyst consensus — TipRanks &amp; Benzinga as of Apr 28, 2026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3A5E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1E40"/>
          </a:solidFill>
          <a:ln cap="flat" cmpd="sng" w="12700">
            <a:solidFill>
              <a:srgbClr val="001E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274320" y="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Quattrocento Sans"/>
              <a:buNone/>
            </a:pPr>
            <a:r>
              <a:rPr b="0" i="0" lang="en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Investment Recommendation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8119872" y="0"/>
            <a:ext cx="256032" cy="9144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8375904" y="0"/>
            <a:ext cx="256032" cy="91440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8631936" y="0"/>
            <a:ext cx="256032" cy="914400"/>
          </a:xfrm>
          <a:prstGeom prst="rect">
            <a:avLst/>
          </a:prstGeom>
          <a:solidFill>
            <a:srgbClr val="FFB900"/>
          </a:solidFill>
          <a:ln cap="flat" cmpd="sng" w="12700">
            <a:solidFill>
              <a:srgbClr val="FF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8887968" y="0"/>
            <a:ext cx="256032" cy="914400"/>
          </a:xfrm>
          <a:prstGeom prst="rect">
            <a:avLst/>
          </a:prstGeom>
          <a:solidFill>
            <a:srgbClr val="D83B01"/>
          </a:solidFill>
          <a:ln cap="flat" cmpd="sng" w="12700">
            <a:solidFill>
              <a:srgbClr val="D83B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182880" y="987552"/>
            <a:ext cx="1600200" cy="1234440"/>
          </a:xfrm>
          <a:prstGeom prst="rect">
            <a:avLst/>
          </a:prstGeom>
          <a:solidFill>
            <a:srgbClr val="107C10"/>
          </a:solidFill>
          <a:ln cap="flat" cmpd="sng" w="12700">
            <a:solidFill>
              <a:srgbClr val="107C1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182880" y="987552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Quattrocento Sans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182880" y="1764792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0CC"/>
              </a:buClr>
              <a:buSzPts val="950"/>
              <a:buFont typeface="Quattrocento Sans"/>
              <a:buNone/>
            </a:pPr>
            <a:r>
              <a:rPr b="0" i="0" lang="en" sz="950" u="none" cap="none" strike="noStrike">
                <a:solidFill>
                  <a:srgbClr val="CCF0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NASDAQ: MSFT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1920240" y="987552"/>
            <a:ext cx="1673352" cy="1234440"/>
          </a:xfrm>
          <a:prstGeom prst="rect">
            <a:avLst/>
          </a:prstGeom>
          <a:solidFill>
            <a:srgbClr val="2A2A4A"/>
          </a:solidFill>
          <a:ln cap="flat" cmpd="sng" w="12700">
            <a:solidFill>
              <a:srgbClr val="4466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1920240" y="1005840"/>
            <a:ext cx="1673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</a:t>
            </a:r>
            <a:r>
              <a:rPr b="1" lang="en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414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1920240" y="1719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Market Price (</a:t>
            </a:r>
            <a:r>
              <a:rPr lang="en" sz="800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May 4, </a:t>
            </a:r>
            <a:r>
              <a:rPr b="0" i="0" lang="en" sz="80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2026)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3703320" y="987552"/>
            <a:ext cx="1673352" cy="1234440"/>
          </a:xfrm>
          <a:prstGeom prst="rect">
            <a:avLst/>
          </a:prstGeom>
          <a:solidFill>
            <a:srgbClr val="1A3A5A"/>
          </a:solidFill>
          <a:ln cap="flat" cmpd="sng" w="12700">
            <a:solidFill>
              <a:srgbClr val="4466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3703320" y="1005840"/>
            <a:ext cx="1673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</a:t>
            </a:r>
            <a:r>
              <a:rPr b="1" lang="en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490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3703320" y="1719072"/>
            <a:ext cx="1673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00"/>
              <a:buFont typeface="Quattrocento Sans"/>
              <a:buNone/>
            </a:pPr>
            <a:r>
              <a:rPr lang="en" sz="800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DCF Base Case Target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5486400" y="987552"/>
            <a:ext cx="1673352" cy="1234440"/>
          </a:xfrm>
          <a:prstGeom prst="rect">
            <a:avLst/>
          </a:prstGeom>
          <a:solidFill>
            <a:srgbClr val="0A3060"/>
          </a:solidFill>
          <a:ln cap="flat" cmpd="sng" w="12700">
            <a:solidFill>
              <a:srgbClr val="4466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5486400" y="1005840"/>
            <a:ext cx="1673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</a:t>
            </a:r>
            <a:r>
              <a:rPr b="1" lang="en" sz="26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472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5486400" y="1719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00"/>
              <a:buFont typeface="Quattrocento Sans"/>
              <a:buNone/>
            </a:pPr>
            <a:r>
              <a:rPr lang="en" sz="800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Comps-Based Target</a:t>
            </a:r>
            <a:endParaRPr sz="800">
              <a:solidFill>
                <a:srgbClr val="AACF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00"/>
              <a:buFont typeface="Quattrocento Sans"/>
              <a:buNone/>
            </a:pPr>
            <a:r>
              <a:rPr lang="en" sz="800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(FY2027E EPS × 28x P/E)</a:t>
            </a:r>
            <a:endParaRPr sz="800">
              <a:solidFill>
                <a:srgbClr val="AACFE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7269480" y="987552"/>
            <a:ext cx="1673352" cy="1234440"/>
          </a:xfrm>
          <a:prstGeom prst="rect">
            <a:avLst/>
          </a:prstGeom>
          <a:solidFill>
            <a:srgbClr val="003080"/>
          </a:solidFill>
          <a:ln cap="flat" cmpd="sng" w="12700">
            <a:solidFill>
              <a:srgbClr val="4466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7269480" y="1005840"/>
            <a:ext cx="16733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~$566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7269480" y="1719072"/>
            <a:ext cx="167335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FE8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AACFE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Wall St. Avg Target (35 analysts)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182880" y="2286000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0A4E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MSFT 1-Year Price History  |  Source: Yahoo Finance / Macrotrends, as of Apr 28,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75" y="2528275"/>
            <a:ext cx="8778300" cy="21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4"/>
          <p:cNvSpPr/>
          <p:nvPr/>
        </p:nvSpPr>
        <p:spPr>
          <a:xfrm>
            <a:off x="182855" y="4756195"/>
            <a:ext cx="8778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4E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00A4EF"/>
                </a:solidFill>
                <a:latin typeface="Calibri"/>
                <a:ea typeface="Calibri"/>
                <a:cs typeface="Calibri"/>
                <a:sym typeface="Calibri"/>
              </a:rPr>
              <a:t>Why BUY now?  </a:t>
            </a: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(1) Azure growing </a:t>
            </a: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%+ and re-accelerating  (2) Copilot at single-digit penetration of 400M+ seats</a:t>
            </a:r>
            <a:r>
              <a:rPr lang="en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$14B+ ARR opportunity  (3) ~22x forward P/E — a 3-year valuation low for a world-class AI compounder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0" y="5074927"/>
            <a:ext cx="9144000" cy="274200"/>
          </a:xfrm>
          <a:prstGeom prst="rect">
            <a:avLst/>
          </a:prstGeom>
          <a:solidFill>
            <a:srgbClr val="001020"/>
          </a:solidFill>
          <a:ln cap="flat" cmpd="sng" w="12700">
            <a:solidFill>
              <a:srgbClr val="001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"/>
          <p:cNvSpPr/>
          <p:nvPr/>
        </p:nvSpPr>
        <p:spPr>
          <a:xfrm>
            <a:off x="150880" y="5143490"/>
            <a:ext cx="8778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650"/>
              <a:buFont typeface="Quattrocento Sans"/>
              <a:buNone/>
            </a:pPr>
            <a:r>
              <a:rPr b="0" i="1" lang="en" sz="650" u="none" cap="none" strike="noStrike">
                <a:solidFill>
                  <a:srgbClr val="44556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 Yahoo Finance / Macrotrends.net, as of Apr 28, 2026; DDM &amp; DCF — author estimates; analyst targets — TipRanks / Benzinga Apr 2026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3A5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/>
          <p:nvPr/>
        </p:nvSpPr>
        <p:spPr>
          <a:xfrm>
            <a:off x="0" y="1600200"/>
            <a:ext cx="114300" cy="1828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342900" y="1524000"/>
            <a:ext cx="84582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342900" y="1952400"/>
            <a:ext cx="845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Supporting Analysis</a:t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342900" y="2743200"/>
            <a:ext cx="84582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AACFE8"/>
                </a:solidFill>
                <a:latin typeface="Calibri"/>
                <a:ea typeface="Calibri"/>
                <a:cs typeface="Calibri"/>
                <a:sym typeface="Calibri"/>
              </a:rPr>
              <a:t>A-1  —  DCF Model Detail &amp; FCF Bridge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AACFE8"/>
                </a:solidFill>
                <a:latin typeface="Calibri"/>
                <a:ea typeface="Calibri"/>
                <a:cs typeface="Calibri"/>
                <a:sym typeface="Calibri"/>
              </a:rPr>
              <a:t>A-2  —  5-Year Historical Financial Summary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AACFE8"/>
                </a:solidFill>
                <a:latin typeface="Calibri"/>
                <a:ea typeface="Calibri"/>
                <a:cs typeface="Calibri"/>
                <a:sym typeface="Calibri"/>
              </a:rPr>
              <a:t>A-3  —  Competitive Benchmarking Deep Dive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AACFE8"/>
                </a:solidFill>
                <a:latin typeface="Calibri"/>
                <a:ea typeface="Calibri"/>
                <a:cs typeface="Calibri"/>
                <a:sym typeface="Calibri"/>
              </a:rPr>
              <a:t>A-4  —  Key Risks &amp; Mitigants Matrix</a:t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MSFT  |  Equity Research Pitch  |  Miami University FIN 401  |  April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A-1  |  DCF Model Detail  —  Microsoft Corporation (MSFT)</a:t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8686800" y="0"/>
            <a:ext cx="457200" cy="4800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228600" y="571500"/>
            <a:ext cx="4000800" cy="28575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DCF Key Assumptions</a:t>
            </a:r>
            <a:endParaRPr/>
          </a:p>
        </p:txBody>
      </p:sp>
      <p:sp>
        <p:nvSpPr>
          <p:cNvPr id="364" name="Google Shape;364;p26"/>
          <p:cNvSpPr/>
          <p:nvPr/>
        </p:nvSpPr>
        <p:spPr>
          <a:xfrm>
            <a:off x="228600" y="857250"/>
            <a:ext cx="4000800" cy="257175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14300" spcFirstLastPara="1" rIns="91425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Input                                          Value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Revenue CAGR (FY26–30E)                13%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Terminal EBITDA Margin                 45%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WACC                                           9.0%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Terminal Growth Rate                    3.0%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Capex / Revenue                           12%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Effective Tax Rate                         18%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Risk-Free Rate (Rf)                       4.4%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Equity Risk Premium (ERP)           5.5%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Beta (5-yr vs. S&amp;P 500)                1.0x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Base Case Value:  $490 / share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~19% upside from current $425</a:t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4381200" y="571500"/>
            <a:ext cx="4534200" cy="28575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5-Year Free Cash Flow Bridge ($B)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4381200" y="857250"/>
            <a:ext cx="4534200" cy="257175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A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14300" spcFirstLastPara="1" rIns="91425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Year       EBITDA        FCF        PV(FCF)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FY26E       $173B        $107B       $98B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FY27E       $200B        $125B      $105B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FY28E       $233B        $146B      $113B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FY29E       $272B        $170B      $120B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FY30E       $316B        $198B      $129B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Sum PV(FCF):              $565B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Terminal Value (PV):    $3,082B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Total Enterprise Value:  $3,647B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(+) Net Cash:                  $34B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Equity Value:             $3,681B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Diluted Shares:            7.46B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Implied Price:             $494/share</a:t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228600" y="3505200"/>
            <a:ext cx="8686800" cy="28575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WACC vs. Terminal Growth Rate Sensitivity  (Implied Price $/share)</a:t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228600" y="3790950"/>
            <a:ext cx="8686800" cy="7239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TGR ↓ / WACC →         7.5%          8.0%          8.5%          9.0%          9.5%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2.5%                                   $490           $446           $406           $370           $338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3.0% ★                              $540           $490 ★        $450           $415           $382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3.5%                                   $600           $545           $499           $459           $424</a:t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228600" y="464820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Sources: DCF — author model; WACC via CAPM (Rf 4.4%, ERP 5.5%, Beta 1.0); base financials from Microsoft FY2025 10-K (SEC EDGAR). Not investment advice.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A-2  |  5-Year Historical Financial Summary  —  Microsoft Corporation (MSFT)</a:t>
            </a:r>
            <a:endParaRPr/>
          </a:p>
        </p:txBody>
      </p:sp>
      <p:sp>
        <p:nvSpPr>
          <p:cNvPr id="375" name="Google Shape;375;p27"/>
          <p:cNvSpPr/>
          <p:nvPr/>
        </p:nvSpPr>
        <p:spPr>
          <a:xfrm>
            <a:off x="8686800" y="0"/>
            <a:ext cx="457200" cy="4800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228600" y="533400"/>
            <a:ext cx="8686800" cy="28575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 ($B unless noted)                     FY2021        FY2022        FY2023        FY2024        FY2025A</a:t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228600" y="819150"/>
            <a:ext cx="8686800" cy="3276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A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1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Revenue                                            $168.1        $198.3        $211.9        $245.1        $281.7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YoY Growth %                                          —           +18%           +7%          +16%          +15%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Gross Profit                                        $115.9        $135.6        $146.1        $171.0        $192.6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Gross Margin %                                       68.9%         68.4%         68.9%         69.8%         68.4%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Operating Income (EBIT)                       $69.9         $83.4         $88.5        $109.4        $128.4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Operating Margin %                                   41.6%         42.1%         41.8%         44.6%         45.6%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EBITDA                                              $96.9        $114.0        $121.0        $141.5        $162.4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EBITDA Margin %                                      57.6%         57.5%         57.1%         57.7%         57.7%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Net Income                                           $61.3         $72.7         $72.4         $88.1        $101.8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Net Margin %                                         36.5%         36.7%         34.1%         35.9%         36.2%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EPS — Diluted ($)                                    $8.05         $9.65         $9.72        $11.80        $13.64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Free Cash Flow                                       $56.1         $65.1         $59.5         $74.1        $107.4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R&amp;D Expense                                          $20.7         $24.5         $27.2         $29.5         $31.0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Capital Expenditure                                  $20.6         $23.9         $28.1         $55.7         $64.6</a:t>
            </a:r>
            <a:endParaRPr/>
          </a:p>
        </p:txBody>
      </p:sp>
      <p:sp>
        <p:nvSpPr>
          <p:cNvPr id="378" name="Google Shape;378;p27"/>
          <p:cNvSpPr/>
          <p:nvPr/>
        </p:nvSpPr>
        <p:spPr>
          <a:xfrm>
            <a:off x="228600" y="4171950"/>
            <a:ext cx="8686800" cy="285750"/>
          </a:xfrm>
          <a:prstGeom prst="rect">
            <a:avLst/>
          </a:prstGeom>
          <a:solidFill>
            <a:srgbClr val="EEF4FF"/>
          </a:solidFill>
          <a:ln cap="flat" cmpd="sng" w="1905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5-Year CAGR (FY21–FY25):  </a:t>
            </a:r>
            <a:r>
              <a:rPr b="0" i="0" lang="en" sz="10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Revenue +13.7%  |  EBITDA +13.8%  |  Net Income +13.5%  |  EPS +14.1%  |  FCF +17.6%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228600" y="464820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Sources: Microsoft Annual Reports (10-K) FY2021–FY2025, SEC EDGAR CIK 0000789019. FY2023 net income impacted by one-time Activision-related charges.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8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A-3  |  Competitive Benchmarking Deep Dive  —  Hyperscaler &amp; Software Peer Set</a:t>
            </a:r>
            <a:endParaRPr/>
          </a:p>
        </p:txBody>
      </p:sp>
      <p:sp>
        <p:nvSpPr>
          <p:cNvPr id="385" name="Google Shape;385;p28"/>
          <p:cNvSpPr/>
          <p:nvPr/>
        </p:nvSpPr>
        <p:spPr>
          <a:xfrm>
            <a:off x="8686800" y="0"/>
            <a:ext cx="457200" cy="4800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228600" y="533400"/>
            <a:ext cx="8686800" cy="28575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Company              Mkt Cap     Rev ($B)   Rev Gr%   Op Mgn%   EBITDA Mgn%   Fwd P/E   EV/EBITDA   FCF Yld%</a:t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228600" y="819150"/>
            <a:ext cx="8686800" cy="285750"/>
          </a:xfrm>
          <a:prstGeom prst="rect">
            <a:avLst/>
          </a:prstGeom>
          <a:solidFill>
            <a:srgbClr val="EEF4FF"/>
          </a:solidFill>
          <a:ln cap="flat" cmpd="sng" w="1905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43A5E"/>
                </a:solidFill>
                <a:latin typeface="Calibri"/>
                <a:ea typeface="Calibri"/>
                <a:cs typeface="Calibri"/>
                <a:sym typeface="Calibri"/>
              </a:rPr>
              <a:t>MSFT ★               ~$3.2T       $281.7B     +15%      45.6%       57.7%         ~22x       ~18x        3.5%</a:t>
            </a:r>
            <a:endParaRPr/>
          </a:p>
        </p:txBody>
      </p:sp>
      <p:sp>
        <p:nvSpPr>
          <p:cNvPr id="388" name="Google Shape;388;p28"/>
          <p:cNvSpPr/>
          <p:nvPr/>
        </p:nvSpPr>
        <p:spPr>
          <a:xfrm>
            <a:off x="228600" y="1104900"/>
            <a:ext cx="8686800" cy="2133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A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1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GOOGL                  ~$1.9T       $350.0B     +12%      33.9%       36.5%         ~28x       ~26x        2.8%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AMZN                   ~$2.9T       $638.0B     +11%      11.3%       18.5%         ~32x       ~18x        2.5%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META                    ~$1.5T       $165.0B     +19%      41.6%       50.2%         ~24x       ~17x        3.2%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ORCL                     ~$460B        $57.0B     +12%      32.1%       44.3%         ~18x       ~18x        2.0%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CRM                       ~$310B        $37.9B       +9%      20.9%       35.2%         ~28x       ~22x        2.1%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SAP                        ~$280B        $38.5B     +10%      29.4%       40.1%         ~30x       ~24x        1.5%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Peer Median               —              —       +11%      31.5%       40.7%         ~26x       ~21x        2.4%</a:t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228600" y="3314700"/>
            <a:ext cx="8686800" cy="24765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Competitive Takeaways</a:t>
            </a:r>
            <a:endParaRPr/>
          </a:p>
        </p:txBody>
      </p:sp>
      <p:sp>
        <p:nvSpPr>
          <p:cNvPr id="390" name="Google Shape;390;p28"/>
          <p:cNvSpPr/>
          <p:nvPr/>
        </p:nvSpPr>
        <p:spPr>
          <a:xfrm>
            <a:off x="228600" y="3562350"/>
            <a:ext cx="8686800" cy="952500"/>
          </a:xfrm>
          <a:prstGeom prst="rect">
            <a:avLst/>
          </a:prstGeom>
          <a:solidFill>
            <a:srgbClr val="EEF4FF"/>
          </a:solidFill>
          <a:ln cap="flat" cmpd="sng" w="12700">
            <a:solidFill>
              <a:srgbClr val="AA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143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MSFT trades at 22x Fwd P/E vs. peer median of ~26x — a rare discount for the highest-margin large-cap in the group (45.6% op margin vs. 31.5% median)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 MSFT grows faster than median peer (+15% vs. +11%) yet trades cheaper on EV/EBITDA (18x vs. 21x) — best-in-class growth at below-median valuation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•  Only MSFT + GOOGL operate full-stack AI platforms (cloud infra + model + application layer) — widest moat in the peer set; MSFT priced cheaper than GOOGL despite superior margins</a:t>
            </a:r>
            <a:endParaRPr/>
          </a:p>
        </p:txBody>
      </p:sp>
      <p:sp>
        <p:nvSpPr>
          <p:cNvPr id="391" name="Google Shape;391;p28"/>
          <p:cNvSpPr/>
          <p:nvPr/>
        </p:nvSpPr>
        <p:spPr>
          <a:xfrm>
            <a:off x="228600" y="464820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Sources: FactSet consensus estimates; company 10-K filings; market data as of Apr 28, 2026. FCF yield = LTM FCF / market cap. Peer multiples are NTM consensus.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/>
          <p:nvPr/>
        </p:nvSpPr>
        <p:spPr>
          <a:xfrm>
            <a:off x="0" y="0"/>
            <a:ext cx="9144000" cy="48006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A-4  |  Key Risks &amp; Mitigants Matrix  —  Microsoft Corporation (MSFT)</a:t>
            </a:r>
            <a:endParaRPr/>
          </a:p>
        </p:txBody>
      </p:sp>
      <p:sp>
        <p:nvSpPr>
          <p:cNvPr id="397" name="Google Shape;397;p29"/>
          <p:cNvSpPr/>
          <p:nvPr/>
        </p:nvSpPr>
        <p:spPr>
          <a:xfrm>
            <a:off x="8686800" y="0"/>
            <a:ext cx="457200" cy="4800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228600" y="533400"/>
            <a:ext cx="8686800" cy="247650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Factor                                                 Likelihood / Impact       Mitigant</a:t>
            </a:r>
            <a:endParaRPr/>
          </a:p>
        </p:txBody>
      </p:sp>
      <p:sp>
        <p:nvSpPr>
          <p:cNvPr id="399" name="Google Shape;399;p29"/>
          <p:cNvSpPr/>
          <p:nvPr/>
        </p:nvSpPr>
        <p:spPr>
          <a:xfrm>
            <a:off x="228600" y="781050"/>
            <a:ext cx="8686800" cy="47625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D83B01"/>
                </a:solidFill>
                <a:latin typeface="Calibri"/>
                <a:ea typeface="Calibri"/>
                <a:cs typeface="Calibri"/>
                <a:sym typeface="Calibri"/>
              </a:rPr>
              <a:t>● Capex ROI Risk ($64.6B FY25 / $85B+ FY26E)    </a:t>
            </a:r>
            <a:r>
              <a:rPr b="0" i="0" lang="en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Medium / High    </a:t>
            </a:r>
            <a:r>
              <a:rPr b="0" i="0" lang="en" sz="9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$315B+ RPO = demand is contracted; timing risk, not demand risk</a:t>
            </a:r>
            <a:endParaRPr/>
          </a:p>
        </p:txBody>
      </p:sp>
      <p:sp>
        <p:nvSpPr>
          <p:cNvPr id="400" name="Google Shape;400;p29"/>
          <p:cNvSpPr/>
          <p:nvPr/>
        </p:nvSpPr>
        <p:spPr>
          <a:xfrm>
            <a:off x="228600" y="1257300"/>
            <a:ext cx="8686800" cy="47625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F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D83B01"/>
                </a:solidFill>
                <a:latin typeface="Calibri"/>
                <a:ea typeface="Calibri"/>
                <a:cs typeface="Calibri"/>
                <a:sym typeface="Calibri"/>
              </a:rPr>
              <a:t>● Copilot Enterprise Adoption Stalls    </a:t>
            </a:r>
            <a:r>
              <a:rPr b="0" i="0" lang="en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Medium / High    </a:t>
            </a:r>
            <a:r>
              <a:rPr b="0" i="0" lang="en" sz="9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15M paid seats growing 160% YoY; embedded directly in M365 workflows</a:t>
            </a:r>
            <a:endParaRPr/>
          </a:p>
        </p:txBody>
      </p:sp>
      <p:sp>
        <p:nvSpPr>
          <p:cNvPr id="401" name="Google Shape;401;p29"/>
          <p:cNvSpPr/>
          <p:nvPr/>
        </p:nvSpPr>
        <p:spPr>
          <a:xfrm>
            <a:off x="228600" y="1733550"/>
            <a:ext cx="8686800" cy="476250"/>
          </a:xfrm>
          <a:prstGeom prst="rect">
            <a:avLst/>
          </a:prstGeom>
          <a:solidFill>
            <a:srgbClr val="FFFBF0"/>
          </a:solidFill>
          <a:ln cap="flat" cmpd="sng" w="12700">
            <a:solidFill>
              <a:srgbClr val="FFE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B900"/>
                </a:solidFill>
                <a:latin typeface="Calibri"/>
                <a:ea typeface="Calibri"/>
                <a:cs typeface="Calibri"/>
                <a:sym typeface="Calibri"/>
              </a:rPr>
              <a:t>● Azure Loses Cloud Share to AWS / Google Cloud    </a:t>
            </a:r>
            <a:r>
              <a:rPr b="0" i="0" lang="en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 / High    </a:t>
            </a:r>
            <a:r>
              <a:rPr b="0" i="0" lang="en" sz="9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Azure 35% growth FY25; OpenAI exclusivity is a structural cloud advantage</a:t>
            </a:r>
            <a:endParaRPr/>
          </a:p>
        </p:txBody>
      </p:sp>
      <p:sp>
        <p:nvSpPr>
          <p:cNvPr id="402" name="Google Shape;402;p29"/>
          <p:cNvSpPr/>
          <p:nvPr/>
        </p:nvSpPr>
        <p:spPr>
          <a:xfrm>
            <a:off x="228600" y="2209800"/>
            <a:ext cx="8686800" cy="476250"/>
          </a:xfrm>
          <a:prstGeom prst="rect">
            <a:avLst/>
          </a:prstGeom>
          <a:solidFill>
            <a:srgbClr val="FFFBF0"/>
          </a:solidFill>
          <a:ln cap="flat" cmpd="sng" w="12700">
            <a:solidFill>
              <a:srgbClr val="FFE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B900"/>
                </a:solidFill>
                <a:latin typeface="Calibri"/>
                <a:ea typeface="Calibri"/>
                <a:cs typeface="Calibri"/>
                <a:sym typeface="Calibri"/>
              </a:rPr>
              <a:t>● Antitrust / Regulatory Pressure    </a:t>
            </a:r>
            <a:r>
              <a:rPr b="0" i="0" lang="en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 / Medium    </a:t>
            </a:r>
            <a:r>
              <a:rPr b="0" i="0" lang="en" sz="9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Activision deal cleared globally; EU AI concerns well-flagged; no near-term catalyst</a:t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228600" y="2686050"/>
            <a:ext cx="8686800" cy="47625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90D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07C10"/>
                </a:solidFill>
                <a:latin typeface="Calibri"/>
                <a:ea typeface="Calibri"/>
                <a:cs typeface="Calibri"/>
                <a:sym typeface="Calibri"/>
              </a:rPr>
              <a:t>● Interest Rate / Multiple Compression    </a:t>
            </a:r>
            <a:r>
              <a:rPr b="0" i="0" lang="en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 / Medium    </a:t>
            </a:r>
            <a:r>
              <a:rPr b="0" i="0" lang="en" sz="9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Already at 22x (3-yr low); strong EPS compounding insulates from further de-rating</a:t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228600" y="3162300"/>
            <a:ext cx="8686800" cy="47625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90D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07C10"/>
                </a:solidFill>
                <a:latin typeface="Calibri"/>
                <a:ea typeface="Calibri"/>
                <a:cs typeface="Calibri"/>
                <a:sym typeface="Calibri"/>
              </a:rPr>
              <a:t>● AI Model Commoditization    </a:t>
            </a:r>
            <a:r>
              <a:rPr b="0" i="0" lang="en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 / Low    </a:t>
            </a:r>
            <a:r>
              <a:rPr b="0" i="0" lang="en" sz="950" u="none" cap="none" strike="noStrike">
                <a:solidFill>
                  <a:srgbClr val="0078D4"/>
                </a:solidFill>
                <a:latin typeface="Calibri"/>
                <a:ea typeface="Calibri"/>
                <a:cs typeface="Calibri"/>
                <a:sym typeface="Calibri"/>
              </a:rPr>
              <a:t>MSFT monetizes the platform layer (Azure, M365 Copilot); model-agnostic by design</a:t>
            </a:r>
            <a:endParaRPr/>
          </a:p>
        </p:txBody>
      </p:sp>
      <p:sp>
        <p:nvSpPr>
          <p:cNvPr id="405" name="Google Shape;405;p29"/>
          <p:cNvSpPr/>
          <p:nvPr/>
        </p:nvSpPr>
        <p:spPr>
          <a:xfrm>
            <a:off x="228600" y="3733800"/>
            <a:ext cx="8686800" cy="20955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D83B01"/>
                </a:solidFill>
                <a:latin typeface="Calibri"/>
                <a:ea typeface="Calibri"/>
                <a:cs typeface="Calibri"/>
                <a:sym typeface="Calibri"/>
              </a:rPr>
              <a:t>● High Risk   </a:t>
            </a:r>
            <a:r>
              <a:rPr b="1" i="0" lang="en" sz="900" u="none" cap="none" strike="noStrike">
                <a:solidFill>
                  <a:srgbClr val="FFB900"/>
                </a:solidFill>
                <a:latin typeface="Calibri"/>
                <a:ea typeface="Calibri"/>
                <a:cs typeface="Calibri"/>
                <a:sym typeface="Calibri"/>
              </a:rPr>
              <a:t>  ● Medium Risk   </a:t>
            </a:r>
            <a:r>
              <a:rPr b="1" i="0" lang="en" sz="900" u="none" cap="none" strike="noStrike">
                <a:solidFill>
                  <a:srgbClr val="107C10"/>
                </a:solidFill>
                <a:latin typeface="Calibri"/>
                <a:ea typeface="Calibri"/>
                <a:cs typeface="Calibri"/>
                <a:sym typeface="Calibri"/>
              </a:rPr>
              <a:t>  ● Low Risk   </a:t>
            </a:r>
            <a:r>
              <a:rPr b="0" i="0" lang="en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   |   Likelihood = probability risk materializes; Impact = potential effect on share price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228600" y="464820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Risk assessment based on author judgment; Microsoft FY2025 10-K risk factors; FactSet consensus; Microsoft Q4 FY2025 Earnings Call Transcript (Jul 2025). Not investment advice.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